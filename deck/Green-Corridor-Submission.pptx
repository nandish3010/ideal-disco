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hyperlink" Target="https://github.com/Nandish3010/ideal-disco" TargetMode="External"/><Relationship Id="rId7" Type="http://schemas.openxmlformats.org/officeDocument/2006/relationships/image" Target="../media/image21.png"/><Relationship Id="rId8" Type="http://schemas.openxmlformats.org/officeDocument/2006/relationships/hyperlink" Target="https://green-corridor-2026.web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3657600"/>
            <a:ext cx="8760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400" b="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400" b="1">
                <a:latin typeface="Google Sans Flex"/>
                <a:ea typeface="Google Sans Flex"/>
                <a:cs typeface="Google Sans Flex"/>
                <a:sym typeface="Google Sans Flex"/>
              </a:rPr>
              <a:t>Green Corridor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400" b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400" b="1">
                <a:latin typeface="Google Sans Flex"/>
                <a:ea typeface="Google Sans Flex"/>
                <a:cs typeface="Google Sans Flex"/>
                <a:sym typeface="Google Sans Flex"/>
              </a:rPr>
              <a:t>Nandish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400" b="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400" b="1">
                <a:latin typeface="Google Sans Flex"/>
                <a:ea typeface="Google Sans Flex"/>
                <a:cs typeface="Google Sans Flex"/>
                <a:sym typeface="Google Sans Flex"/>
              </a:rPr>
              <a:t>Sustainability &amp; Social Impact — emergency vehicles stuck at red signals; the junction constable is never told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265176" y="2834640"/>
            <a:ext cx="8595360" cy="228600"/>
          </a:xfrm>
          <a:prstGeom prst="rect">
            <a:avLst/>
          </a:prstGeom>
          <a:noFill/>
        </p:spPr>
        <p:txBody>
          <a:bodyPr wrap="square" anchor="t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120" cap="all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Google Cloud AI Builder Cup 2026 · Sustainability &amp; Social Impact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" y="3072384"/>
            <a:ext cx="8595360" cy="457200"/>
          </a:xfrm>
          <a:prstGeom prst="rect">
            <a:avLst/>
          </a:prstGeom>
          <a:noFill/>
        </p:spPr>
        <p:txBody>
          <a:bodyPr wrap="square" anchor="t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Warning the junction constable before the siren arrives.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Warn the junction constable early, sized to the queue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56616" y="1783080"/>
            <a:ext cx="2688335" cy="1920240"/>
          </a:xfrm>
          <a:prstGeom prst="roundRect">
            <a:avLst>
              <a:gd name="adj" fmla="val 476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457200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16.5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min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saved on the scripted scenario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27832" y="1783080"/>
            <a:ext cx="2688335" cy="1920240"/>
          </a:xfrm>
          <a:prstGeom prst="roundRect">
            <a:avLst>
              <a:gd name="adj" fmla="val 476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457200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4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min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warning at a 400 m queue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99047" y="1783080"/>
            <a:ext cx="2688335" cy="1920240"/>
          </a:xfrm>
          <a:prstGeom prst="roundRect">
            <a:avLst>
              <a:gd name="adj" fmla="val 476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457200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100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%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tier accuracy on 11 synthetic clips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6616" y="3931920"/>
            <a:ext cx="8430767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Scripted scenario and synthetic voices, not field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Not a fixed radius, and not waiting for new hardware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6616" y="1691640"/>
            <a:ext cx="2688335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85216" y="1920240"/>
            <a:ext cx="475488" cy="475488"/>
          </a:xfrm>
          <a:prstGeom prst="ellipse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5216" y="2606040"/>
            <a:ext cx="22311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How it differs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2971800"/>
            <a:ext cx="2231135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Warning sized to the queue, not a fixed radius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27832" y="1691640"/>
            <a:ext cx="2688335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56432" y="1920240"/>
            <a:ext cx="475488" cy="475488"/>
          </a:xfrm>
          <a:prstGeom prst="ellipse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56432" y="2606040"/>
            <a:ext cx="22311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How it solves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6432" y="2971800"/>
            <a:ext cx="2231135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The constable clears the queue before the siren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99047" y="1691640"/>
            <a:ext cx="2688335" cy="2286000"/>
          </a:xfrm>
          <a:prstGeom prst="roundRect">
            <a:avLst>
              <a:gd name="adj" fmla="val 4000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27647" y="192024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27647" y="2606040"/>
            <a:ext cx="22311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USP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27647" y="2971800"/>
            <a:ext cx="2231135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Rules decide, Gemini explains; no hardware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Six screens and the engines behind them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56616" y="1371600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453896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91" name="TextBox 90"/>
          <p:cNvSpPr txBox="1"/>
          <p:nvPr/>
        </p:nvSpPr>
        <p:spPr>
          <a:xfrm>
            <a:off x="438912" y="2331720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Voice triage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" y="2560320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Speak, confirm the tier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27832" y="1371600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7" y="1453896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95" name="TextBox 94"/>
          <p:cNvSpPr txBox="1"/>
          <p:nvPr/>
        </p:nvSpPr>
        <p:spPr>
          <a:xfrm>
            <a:off x="3310127" y="2331720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Spoken cop alert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0127" y="2560320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PREPARE, then STOP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99047" y="1371600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3" y="1453896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99" name="TextBox 98"/>
          <p:cNvSpPr txBox="1"/>
          <p:nvPr/>
        </p:nvSpPr>
        <p:spPr>
          <a:xfrm>
            <a:off x="6181343" y="2331720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Hospital live 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81343" y="2560320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Live log, ATMIST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56616" y="2980944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3063240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03" name="TextBox 102"/>
          <p:cNvSpPr txBox="1"/>
          <p:nvPr/>
        </p:nvSpPr>
        <p:spPr>
          <a:xfrm>
            <a:off x="438912" y="3941064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Control room board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8912" y="4169664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Junctions and escalations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227832" y="2980944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7" y="3063240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07" name="TextBox 106"/>
          <p:cNvSpPr txBox="1"/>
          <p:nvPr/>
        </p:nvSpPr>
        <p:spPr>
          <a:xfrm>
            <a:off x="3310127" y="3941064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With-vs-without replay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0127" y="4169664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Minutes saved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099047" y="2980944"/>
            <a:ext cx="2688335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1343" y="3063240"/>
            <a:ext cx="2523743" cy="841248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11" name="TextBox 110"/>
          <p:cNvSpPr txBox="1"/>
          <p:nvPr/>
        </p:nvSpPr>
        <p:spPr>
          <a:xfrm>
            <a:off x="6181343" y="3941064"/>
            <a:ext cx="252374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Routing agent trace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81343" y="4169664"/>
            <a:ext cx="2523743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Tool-call trace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56616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Lead time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776984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Sequencing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197352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Cop voice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617720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ATMIST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038087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After-action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458456" y="4608576"/>
            <a:ext cx="1328927" cy="274320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Eval harness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From the crew’s words to the constable’s phone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56616" y="1417320"/>
            <a:ext cx="8430767" cy="1371600"/>
          </a:xfrm>
          <a:prstGeom prst="roundRect">
            <a:avLst>
              <a:gd name="adj" fmla="val 6666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3776" y="1490472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cap="all" spc="10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Road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56616" y="2926080"/>
            <a:ext cx="8430767" cy="114300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6" y="2999232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cap="all" spc="10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Hospital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2920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1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Crew speaks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728216" y="2203704"/>
            <a:ext cx="128015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874519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2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Gemini extracts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099816" y="2203704"/>
            <a:ext cx="12801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3246120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3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Crew confirms tier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471416" y="2203704"/>
            <a:ext cx="12801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4617720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4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Queue sizes alert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843016" y="2203704"/>
            <a:ext cx="12801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5989320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5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Cop hears, ACKs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214616" y="2203704"/>
            <a:ext cx="12801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7360920" y="1783080"/>
            <a:ext cx="1207008" cy="841248"/>
          </a:xfrm>
          <a:prstGeom prst="roundRect">
            <a:avLst>
              <a:gd name="adj" fmla="val 8695"/>
            </a:avLst>
          </a:prstGeom>
          <a:solidFill>
            <a:srgbClr val="FEF3C7"/>
          </a:solidFill>
          <a:ln w="25400">
            <a:solidFill>
              <a:srgbClr val="F59E0B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rIns="45720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6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SignalAdapter (simulated)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17720" y="324612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7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Hospital brief at ETA−5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849624" y="2642616"/>
            <a:ext cx="0" cy="93268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849624" y="3575304"/>
            <a:ext cx="749808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56616" y="4251960"/>
            <a:ext cx="8430767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Amber seam: simulated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Real screens from the running prototype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39496" y="1417320"/>
            <a:ext cx="1368804" cy="2770632"/>
          </a:xfrm>
          <a:prstGeom prst="roundRect">
            <a:avLst>
              <a:gd name="adj" fmla="val 14696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52400" dist="508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1499616"/>
            <a:ext cx="1204212" cy="260604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65176" y="4279392"/>
            <a:ext cx="1917444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Voice triage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411220" y="1417320"/>
            <a:ext cx="1368804" cy="2770632"/>
          </a:xfrm>
          <a:prstGeom prst="roundRect">
            <a:avLst>
              <a:gd name="adj" fmla="val 14696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52400" dist="508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516" y="1499616"/>
            <a:ext cx="1204212" cy="260604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2136900" y="4279392"/>
            <a:ext cx="1917444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Spoken alert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282945" y="1492328"/>
            <a:ext cx="4321558" cy="2510886"/>
          </a:xfrm>
          <a:prstGeom prst="roundRect">
            <a:avLst>
              <a:gd name="adj" fmla="val 3641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52400" dist="508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4385" y="1583768"/>
            <a:ext cx="4138678" cy="2328006"/>
          </a:xfrm>
          <a:prstGeom prst="rect">
            <a:avLst/>
          </a:prstGeom>
        </p:spPr>
      </p:pic>
      <p:sp>
        <p:nvSpPr>
          <p:cNvPr id="113" name="Rounded Rectangle 112"/>
          <p:cNvSpPr/>
          <p:nvPr/>
        </p:nvSpPr>
        <p:spPr>
          <a:xfrm>
            <a:off x="4100065" y="4003215"/>
            <a:ext cx="4687318" cy="91440"/>
          </a:xfrm>
          <a:prstGeom prst="roundRect">
            <a:avLst>
              <a:gd name="adj" fmla="val 50000"/>
            </a:avLst>
          </a:prstGeom>
          <a:solidFill>
            <a:srgbClr val="3A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08625" y="4279392"/>
            <a:ext cx="487019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Hospital brief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6616" y="4645152"/>
            <a:ext cx="8430767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Live rehearsal captures; synthetic patients.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Rules decide; Google Cloud services extract and explain</a:t>
            </a:r>
          </a:p>
        </p:txBody>
      </p:sp>
      <p:pic>
        <p:nvPicPr>
          <p:cNvPr id="113" name="Picture 112" descr="gc-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43" y="1325880"/>
            <a:ext cx="7682512" cy="301752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356616" y="4480560"/>
            <a:ext cx="8430767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Rules engine on Cloud Run, Firestore event bus; the amber SignalAdapter seam is where a real controller plugs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A Google Cloud stack, from model to delivery</a:t>
            </a:r>
          </a:p>
        </p:txBody>
      </p:sp>
      <p:sp>
        <p:nvSpPr>
          <p:cNvPr id="121" name="Oval 120"/>
          <p:cNvSpPr/>
          <p:nvPr/>
        </p:nvSpPr>
        <p:spPr>
          <a:xfrm>
            <a:off x="356616" y="160020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2648" y="1417320"/>
            <a:ext cx="1554480" cy="53035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AI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185416" y="1417320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Gemini on Vertex AI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447032" y="1417320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Google ADK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708647" y="1417320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BigQuery ML</a:t>
            </a:r>
          </a:p>
        </p:txBody>
      </p:sp>
      <p:sp>
        <p:nvSpPr>
          <p:cNvPr id="126" name="Oval 125"/>
          <p:cNvSpPr/>
          <p:nvPr/>
        </p:nvSpPr>
        <p:spPr>
          <a:xfrm>
            <a:off x="356616" y="22585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2648" y="2075688"/>
            <a:ext cx="1554480" cy="53035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Run &amp; data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185416" y="2075688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Cloud Run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47032" y="2075688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Firestore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708647" y="2075688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BigQuery</a:t>
            </a:r>
          </a:p>
        </p:txBody>
      </p:sp>
      <p:sp>
        <p:nvSpPr>
          <p:cNvPr id="131" name="Oval 130"/>
          <p:cNvSpPr/>
          <p:nvPr/>
        </p:nvSpPr>
        <p:spPr>
          <a:xfrm>
            <a:off x="356616" y="291693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2648" y="2734056"/>
            <a:ext cx="1554480" cy="53035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Maps &amp; speech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185416" y="2734056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Routes API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447032" y="2734056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Text-to-Speech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708647" y="2734056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Translation</a:t>
            </a:r>
          </a:p>
        </p:txBody>
      </p:sp>
      <p:sp>
        <p:nvSpPr>
          <p:cNvPr id="136" name="Oval 135"/>
          <p:cNvSpPr/>
          <p:nvPr/>
        </p:nvSpPr>
        <p:spPr>
          <a:xfrm>
            <a:off x="356616" y="357530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12648" y="3392424"/>
            <a:ext cx="1554480" cy="53035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Delivery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185416" y="3392424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Firebase Hosting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447032" y="3392424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Cloud Build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708647" y="3392424"/>
            <a:ext cx="20787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Secret Manager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6616" y="4069079"/>
            <a:ext cx="8430767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Also: Storage, Scheduler,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About ₹155 per vehicle-hour, almost all of it Routes</a:t>
            </a:r>
          </a:p>
        </p:txBody>
      </p:sp>
      <p:graphicFrame>
        <p:nvGraphicFramePr>
          <p:cNvPr id="129" name="Table 128"/>
          <p:cNvGraphicFramePr>
            <a:graphicFrameLocks noGrp="1"/>
          </p:cNvGraphicFramePr>
          <p:nvPr/>
        </p:nvGraphicFramePr>
        <p:xfrm>
          <a:off x="356616" y="1691640"/>
          <a:ext cx="5029200" cy="2121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011680"/>
                <a:gridCol w="11887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7280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Service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7280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Basis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B7280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₹ per hour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Routes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3 calls/min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₹153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17 calls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₹0.34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Text-to-Speech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~1,000 chars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₹1.30</a:t>
                      </a:r>
                    </a:p>
                  </a:txBody>
                  <a:tcPr marL="109728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A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129"/>
          <p:cNvSpPr/>
          <p:nvPr/>
        </p:nvSpPr>
        <p:spPr>
          <a:xfrm>
            <a:off x="5705855" y="1691640"/>
            <a:ext cx="3081527" cy="2121408"/>
          </a:xfrm>
          <a:prstGeom prst="roundRect">
            <a:avLst>
              <a:gd name="adj" fmla="val 4310"/>
            </a:avLst>
          </a:prstGeom>
          <a:solidFill>
            <a:srgbClr val="F59E0B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557783" rIns="164592" bIns="91440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≈ ₹155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per vehicle-hour (estimate)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6616" y="3995928"/>
            <a:ext cx="5029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List prices; Routes is ~98 % of the bill.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The loop, mid-run, from the live rehearsal</a:t>
            </a:r>
          </a:p>
        </p:txBody>
      </p:sp>
      <p:pic>
        <p:nvPicPr>
          <p:cNvPr id="137" name="Picture 1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1371600"/>
            <a:ext cx="4078223" cy="137160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38" name="TextBox 137"/>
          <p:cNvSpPr txBox="1"/>
          <p:nvPr/>
        </p:nvSpPr>
        <p:spPr>
          <a:xfrm>
            <a:off x="356616" y="2834640"/>
            <a:ext cx="407822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Control room</a:t>
            </a:r>
          </a:p>
        </p:txBody>
      </p:sp>
      <p:pic>
        <p:nvPicPr>
          <p:cNvPr id="139" name="Picture 13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59" y="1371600"/>
            <a:ext cx="4078223" cy="137160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40" name="TextBox 139"/>
          <p:cNvSpPr txBox="1"/>
          <p:nvPr/>
        </p:nvSpPr>
        <p:spPr>
          <a:xfrm>
            <a:off x="4709159" y="2834640"/>
            <a:ext cx="407822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Replay simulator</a:t>
            </a:r>
          </a:p>
        </p:txBody>
      </p:sp>
      <p:pic>
        <p:nvPicPr>
          <p:cNvPr id="141" name="Picture 1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" y="3127248"/>
            <a:ext cx="4078223" cy="137160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42" name="TextBox 141"/>
          <p:cNvSpPr txBox="1"/>
          <p:nvPr/>
        </p:nvSpPr>
        <p:spPr>
          <a:xfrm>
            <a:off x="356616" y="4590288"/>
            <a:ext cx="407822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Routing trace</a:t>
            </a:r>
          </a:p>
        </p:txBody>
      </p:sp>
      <p:pic>
        <p:nvPicPr>
          <p:cNvPr id="143" name="Picture 142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59" y="3127248"/>
            <a:ext cx="4078223" cy="137160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27000" dist="38100" dir="5400000" algn="t" rotWithShape="0">
              <a:srgbClr val="000000">
                <a:alpha val="28000"/>
              </a:srgbClr>
            </a:outerShdw>
          </a:effectLst>
        </p:spPr>
      </p:pic>
      <p:sp>
        <p:nvSpPr>
          <p:cNvPr id="144" name="TextBox 143"/>
          <p:cNvSpPr txBox="1"/>
          <p:nvPr/>
        </p:nvSpPr>
        <p:spPr>
          <a:xfrm>
            <a:off x="4709159" y="4590288"/>
            <a:ext cx="4078223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Hospital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Synthetic-voice results, scripted-run timings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56616" y="1463040"/>
            <a:ext cx="1970531" cy="1417320"/>
          </a:xfrm>
          <a:prstGeom prst="roundRect">
            <a:avLst>
              <a:gd name="adj" fmla="val 645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5739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90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%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field accuracy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510028" y="1463040"/>
            <a:ext cx="1970531" cy="1417320"/>
          </a:xfrm>
          <a:prstGeom prst="roundRect">
            <a:avLst>
              <a:gd name="adj" fmla="val 645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5739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100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%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tier accuracy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663440" y="1463040"/>
            <a:ext cx="1970531" cy="1417320"/>
          </a:xfrm>
          <a:prstGeom prst="roundRect">
            <a:avLst>
              <a:gd name="adj" fmla="val 645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5739" rIns="164592" bIns="91440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3.5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mean extraction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816851" y="1463040"/>
            <a:ext cx="1970531" cy="1417320"/>
          </a:xfrm>
          <a:prstGeom prst="roundRect">
            <a:avLst>
              <a:gd name="adj" fmla="val 6451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5739" rIns="164592" bIns="91440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4 vs 1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min alert lead, long vs short queue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6616" y="2971800"/>
            <a:ext cx="8430767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11 synthetic clips; not field recordings.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56616" y="3383280"/>
            <a:ext cx="4023360" cy="1371600"/>
          </a:xfrm>
          <a:prstGeom prst="roundRect">
            <a:avLst>
              <a:gd name="adj" fmla="val 6666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82879" rIns="164592" bIns="91440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17 / 37</a:t>
            </a:r>
            <a:r>
              <a:rPr sz="1800" b="1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 ms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/location p50 / p95, offline single instance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54296" y="3383280"/>
            <a:ext cx="4133087" cy="13716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412 Python, 161 web tests; 98 % API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From constable to controller, in three steps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56616" y="1691640"/>
            <a:ext cx="2395728" cy="2103120"/>
          </a:xfrm>
          <a:prstGeom prst="roundRect">
            <a:avLst>
              <a:gd name="adj" fmla="val 4347"/>
            </a:avLst>
          </a:prstGeom>
          <a:solidFill>
            <a:srgbClr val="16171A"/>
          </a:solidFill>
          <a:ln>
            <a:noFill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1168" rIns="182880" bIns="137160"/>
          <a:lstStyle/>
          <a:p>
            <a:pPr algn="l">
              <a:spcAft>
                <a:spcPts val="900"/>
              </a:spcAft>
            </a:pPr>
            <a:r>
              <a:rPr sz="1100" b="1" cap="all" spc="100">
                <a:solidFill>
                  <a:srgbClr val="F59E0B"/>
                </a:solidFill>
                <a:latin typeface="Google Sans Flex"/>
                <a:ea typeface="Google Sans Flex"/>
                <a:cs typeface="Google Sans Flex"/>
              </a:rPr>
              <a:t>Today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Constable alerts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5E7EB"/>
                </a:solidFill>
                <a:latin typeface="Google Sans Flex"/>
                <a:ea typeface="Google Sans Flex"/>
                <a:cs typeface="Google Sans Flex"/>
              </a:rPr>
              <a:t>Spoken alert, one ACK.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2843784" y="2743200"/>
            <a:ext cx="438911" cy="0"/>
          </a:xfrm>
          <a:prstGeom prst="line">
            <a:avLst/>
          </a:prstGeom>
          <a:ln w="25400">
            <a:solidFill>
              <a:srgbClr val="B4530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3374135" y="1691640"/>
            <a:ext cx="2395728" cy="2103120"/>
          </a:xfrm>
          <a:prstGeom prst="roundRect">
            <a:avLst>
              <a:gd name="adj" fmla="val 4347"/>
            </a:avLst>
          </a:prstGeom>
          <a:solidFill>
            <a:srgbClr val="FEF3C7"/>
          </a:solidFill>
          <a:ln w="25400">
            <a:solidFill>
              <a:srgbClr val="F59E0B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1168" rIns="182880" bIns="137160"/>
          <a:lstStyle/>
          <a:p>
            <a:pPr algn="l">
              <a:spcAft>
                <a:spcPts val="900"/>
              </a:spcAft>
            </a:pPr>
            <a:r>
              <a:rPr sz="1100" b="1" cap="all" spc="100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Phase 2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Signal controllers via the adapter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Constables no longer clear queues by hand.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861303" y="2743200"/>
            <a:ext cx="438912" cy="0"/>
          </a:xfrm>
          <a:prstGeom prst="line">
            <a:avLst/>
          </a:prstGeom>
          <a:ln w="25400">
            <a:solidFill>
              <a:srgbClr val="B4530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6391655" y="1691640"/>
            <a:ext cx="239572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201168" rIns="182880" bIns="137160"/>
          <a:lstStyle/>
          <a:p>
            <a:pPr algn="l">
              <a:spcAft>
                <a:spcPts val="900"/>
              </a:spcAft>
            </a:pPr>
            <a:r>
              <a:rPr sz="1100" b="1" cap="all" spc="100">
                <a:solidFill>
                  <a:srgbClr val="B45309"/>
                </a:solidFill>
                <a:latin typeface="Google Sans Flex"/>
                <a:ea typeface="Google Sans Flex"/>
                <a:cs typeface="Google Sans Flex"/>
              </a:rPr>
              <a:t>Phase 3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Learning controller on logged junction data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374151"/>
                </a:solidFill>
                <a:latin typeface="Google Sans Flex"/>
                <a:ea typeface="Google Sans Flex"/>
                <a:cs typeface="Google Sans Flex"/>
              </a:rPr>
              <a:t>Peak-hour spans already logged.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03504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spc="120" cap="all">
                <a:solidFill>
                  <a:srgbClr val="B4530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Headline"/>
          <p:cNvSpPr txBox="1"/>
          <p:nvPr/>
        </p:nvSpPr>
        <p:spPr>
          <a:xfrm>
            <a:off x="310896" y="850392"/>
            <a:ext cx="8522207" cy="457200"/>
          </a:xfrm>
          <a:prstGeom prst="rect">
            <a:avLst/>
          </a:prstGeom>
          <a:noFill/>
        </p:spPr>
        <p:txBody>
          <a:bodyPr wrap="square" anchor="t" lIns="45720" tIns="0" rIns="4572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Try it, read the code, watch the demo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56616" y="1600200"/>
            <a:ext cx="2688335" cy="306324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85216" y="1783080"/>
            <a:ext cx="22311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8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GitHub Public Repository</a:t>
            </a:r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3" y="2148840"/>
            <a:ext cx="1783080" cy="178308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39496" y="4114800"/>
            <a:ext cx="232257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  <a:hlinkClick r:id="rId6"/>
              </a:rPr>
              <a:t>github.com/Nandish3010/ideal-disco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227832" y="1600200"/>
            <a:ext cx="2688335" cy="306324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56432" y="1783080"/>
            <a:ext cx="22311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8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Demo Video (3 minutes)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56432" y="2514600"/>
            <a:ext cx="2231135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[link]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99047" y="1600200"/>
            <a:ext cx="2688335" cy="306324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01600" dist="254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27647" y="1783080"/>
            <a:ext cx="22311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80">
                <a:solidFill>
                  <a:srgbClr val="6B7280"/>
                </a:solidFill>
                <a:latin typeface="Google Sans Flex"/>
                <a:ea typeface="Google Sans Flex"/>
                <a:cs typeface="Google Sans Flex"/>
              </a:rPr>
              <a:t>Final Product</a:t>
            </a:r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5" y="2148840"/>
            <a:ext cx="1783080" cy="178308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6281927" y="4114800"/>
            <a:ext cx="232257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  <a:hlinkClick r:id="rId8"/>
              </a:rPr>
              <a:t>green-corridor-2026.web.app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Emergency Green Corridor: submission deck</dc:title>
  <cp:lastModifiedBy>Nandish</cp:lastModifiedBy>
  <cp:revision>1</cp:revision>
  <dcterms:modified xsi:type="dcterms:W3CDTF">2026-10-06T18:01:50Z</dcterms:modified>
  <dc:creator>Nandish</dc:creator>
</cp:coreProperties>
</file>