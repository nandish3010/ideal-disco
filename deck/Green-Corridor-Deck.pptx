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hyperlink" Target="https://github.com/Nandish3010/ideal-disco" TargetMode="External"/><Relationship Id="rId4" Type="http://schemas.openxmlformats.org/officeDocument/2006/relationships/image" Target="../media/image16.png"/><Relationship Id="rId5" Type="http://schemas.openxmlformats.org/officeDocument/2006/relationships/hyperlink" Target="https://green-corridor-2026.web.app" TargetMode="External"/><Relationship Id="rId6" Type="http://schemas.openxmlformats.org/officeDocument/2006/relationships/image" Target="../media/image17.png"/><Relationship Id="rId7" Type="http://schemas.openxmlformats.org/officeDocument/2006/relationships/hyperlink" Target="https://green-corridor-2026.web.app/deck.pdf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 eyebrow"/>
          <p:cNvSpPr txBox="1"/>
          <p:nvPr/>
        </p:nvSpPr>
        <p:spPr>
          <a:xfrm>
            <a:off x="640080" y="1737360"/>
            <a:ext cx="10515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cap="all" spc="140">
                <a:solidFill>
                  <a:srgbClr val="F59E0B"/>
                </a:solidFill>
                <a:latin typeface="Arial"/>
                <a:ea typeface="Arial"/>
                <a:cs typeface="Arial"/>
              </a:rPr>
              <a:t>Google Cloud AI Builder Cup 2026 · Sustainability &amp; Social Impact</a:t>
            </a:r>
          </a:p>
        </p:txBody>
      </p:sp>
      <p:cxnSp>
        <p:nvCxnSpPr>
          <p:cNvPr id="3" name="Connector"/>
          <p:cNvCxnSpPr/>
          <p:nvPr/>
        </p:nvCxnSpPr>
        <p:spPr>
          <a:xfrm>
            <a:off x="640080" y="2194560"/>
            <a:ext cx="822960" cy="0"/>
          </a:xfrm>
          <a:prstGeom prst="line">
            <a:avLst/>
          </a:prstGeom>
          <a:ln w="38100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ver title"/>
          <p:cNvSpPr txBox="1"/>
          <p:nvPr/>
        </p:nvSpPr>
        <p:spPr>
          <a:xfrm>
            <a:off x="640080" y="2514600"/>
            <a:ext cx="5760720" cy="17373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F5F5F4"/>
                </a:solidFill>
                <a:latin typeface="Arial"/>
                <a:ea typeface="Arial"/>
                <a:cs typeface="Arial"/>
              </a:rPr>
              <a:t>Emergency Green Corridor</a:t>
            </a:r>
          </a:p>
        </p:txBody>
      </p:sp>
      <p:sp>
        <p:nvSpPr>
          <p:cNvPr id="5" name="Cover tagline"/>
          <p:cNvSpPr txBox="1"/>
          <p:nvPr/>
        </p:nvSpPr>
        <p:spPr>
          <a:xfrm>
            <a:off x="640080" y="4343400"/>
            <a:ext cx="54864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E5E7EB"/>
                </a:solidFill>
                <a:latin typeface="Arial"/>
                <a:ea typeface="Arial"/>
                <a:cs typeface="Arial"/>
              </a:rPr>
              <a:t>Warning the junction constable before the siren arrives.</a:t>
            </a:r>
          </a:p>
        </p:txBody>
      </p:sp>
      <p:sp>
        <p:nvSpPr>
          <p:cNvPr id="6" name="Cover byline"/>
          <p:cNvSpPr txBox="1"/>
          <p:nvPr/>
        </p:nvSpPr>
        <p:spPr>
          <a:xfrm>
            <a:off x="640080" y="5669280"/>
            <a:ext cx="56692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Nandish · green-corridor-2026.web.app</a:t>
            </a:r>
          </a:p>
        </p:txBody>
      </p:sp>
      <p:sp>
        <p:nvSpPr>
          <p:cNvPr id="7" name="Cover stat"/>
          <p:cNvSpPr/>
          <p:nvPr/>
        </p:nvSpPr>
        <p:spPr>
          <a:xfrm>
            <a:off x="6812280" y="2286000"/>
            <a:ext cx="4754880" cy="3017520"/>
          </a:xfrm>
          <a:prstGeom prst="roundRect">
            <a:avLst>
              <a:gd name="adj" fmla="val 4848"/>
            </a:avLst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 rIns="320040" bIns="182880"/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60 %+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E5E7EB"/>
                </a:solidFill>
                <a:latin typeface="Arial"/>
                <a:ea typeface="Arial"/>
                <a:cs typeface="Arial"/>
              </a:rPr>
              <a:t>of Karnataka 108 cardiac, stroke, respiratory calls missed the 10-minute target</a:t>
            </a:r>
          </a:p>
        </p:txBody>
      </p:sp>
      <p:sp>
        <p:nvSpPr>
          <p:cNvPr id="8" name="Cover citation"/>
          <p:cNvSpPr txBox="1"/>
          <p:nvPr/>
        </p:nvSpPr>
        <p:spPr>
          <a:xfrm>
            <a:off x="6812280" y="5440680"/>
            <a:ext cx="475488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Source: CAG audit of Karnataka 108 EMS, 2014–19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asthead eyebrow"/>
          <p:cNvSpPr txBox="1"/>
          <p:nvPr/>
        </p:nvSpPr>
        <p:spPr>
          <a:xfrm>
            <a:off x="640080" y="365760"/>
            <a:ext cx="10911535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cap="all" spc="120">
                <a:solidFill>
                  <a:srgbClr val="B45309"/>
                </a:solidFill>
                <a:latin typeface="Arial"/>
                <a:ea typeface="Arial"/>
                <a:cs typeface="Arial"/>
              </a:rPr>
              <a:t>Google Cloud AI Builder Cup 2026 · Sustainability &amp; Social Impact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Team details</a:t>
            </a:r>
          </a:p>
        </p:txBody>
      </p:sp>
      <p:cxnSp>
        <p:nvCxnSpPr>
          <p:cNvPr id="4" name="Masthead rule"/>
          <p:cNvCxnSpPr/>
          <p:nvPr/>
        </p:nvCxnSpPr>
        <p:spPr>
          <a:xfrm>
            <a:off x="640080" y="1280160"/>
            <a:ext cx="10911535" cy="0"/>
          </a:xfrm>
          <a:prstGeom prst="line">
            <a:avLst/>
          </a:prstGeom>
          <a:ln w="15875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Lede"/>
          <p:cNvSpPr txBox="1"/>
          <p:nvPr/>
        </p:nvSpPr>
        <p:spPr>
          <a:xfrm>
            <a:off x="640080" y="1389888"/>
            <a:ext cx="10911535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A solo entry, built end to end by one contributor.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Green Corridor · Team details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9722815" y="6400800"/>
            <a:ext cx="18288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2 / 16</a:t>
            </a:r>
          </a:p>
        </p:txBody>
      </p:sp>
      <p:sp>
        <p:nvSpPr>
          <p:cNvPr id="8" name="Card"/>
          <p:cNvSpPr/>
          <p:nvPr/>
        </p:nvSpPr>
        <p:spPr>
          <a:xfrm>
            <a:off x="640080" y="2057400"/>
            <a:ext cx="3515258" cy="1737360"/>
          </a:xfrm>
          <a:prstGeom prst="roundRect">
            <a:avLst>
              <a:gd name="adj" fmla="val 7368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914400" y="2286000"/>
            <a:ext cx="2966618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cap="all" spc="100">
                <a:solidFill>
                  <a:srgbClr val="B45309"/>
                </a:solidFill>
                <a:latin typeface="Arial"/>
                <a:ea typeface="Arial"/>
                <a:cs typeface="Arial"/>
              </a:rPr>
              <a:t>Team name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914400" y="2743200"/>
            <a:ext cx="2966618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Green Corridor</a:t>
            </a:r>
          </a:p>
        </p:txBody>
      </p:sp>
      <p:sp>
        <p:nvSpPr>
          <p:cNvPr id="11" name="Card"/>
          <p:cNvSpPr/>
          <p:nvPr/>
        </p:nvSpPr>
        <p:spPr>
          <a:xfrm>
            <a:off x="4338218" y="2057400"/>
            <a:ext cx="3515258" cy="1737360"/>
          </a:xfrm>
          <a:prstGeom prst="roundRect">
            <a:avLst>
              <a:gd name="adj" fmla="val 7368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"/>
          <p:cNvSpPr txBox="1"/>
          <p:nvPr/>
        </p:nvSpPr>
        <p:spPr>
          <a:xfrm>
            <a:off x="4612538" y="2286000"/>
            <a:ext cx="2966618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cap="all" spc="100">
                <a:solidFill>
                  <a:srgbClr val="B45309"/>
                </a:solidFill>
                <a:latin typeface="Arial"/>
                <a:ea typeface="Arial"/>
                <a:cs typeface="Arial"/>
              </a:rPr>
              <a:t>Team leader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4612538" y="2743200"/>
            <a:ext cx="2966618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Nandish</a:t>
            </a:r>
          </a:p>
        </p:txBody>
      </p:sp>
      <p:sp>
        <p:nvSpPr>
          <p:cNvPr id="14" name="Card"/>
          <p:cNvSpPr/>
          <p:nvPr/>
        </p:nvSpPr>
        <p:spPr>
          <a:xfrm>
            <a:off x="8036356" y="2057400"/>
            <a:ext cx="3515258" cy="1737360"/>
          </a:xfrm>
          <a:prstGeom prst="roundRect">
            <a:avLst>
              <a:gd name="adj" fmla="val 7368"/>
            </a:avLst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8310676" y="2286000"/>
            <a:ext cx="2966618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cap="all" spc="100">
                <a:solidFill>
                  <a:srgbClr val="F59E0B"/>
                </a:solidFill>
                <a:latin typeface="Arial"/>
                <a:ea typeface="Arial"/>
                <a:cs typeface="Arial"/>
              </a:rPr>
              <a:t>Contributors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8310676" y="2743200"/>
            <a:ext cx="2966618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Sole contributor</a:t>
            </a:r>
          </a:p>
        </p:txBody>
      </p:sp>
      <p:sp>
        <p:nvSpPr>
          <p:cNvPr id="17" name="Problem card"/>
          <p:cNvSpPr/>
          <p:nvPr/>
        </p:nvSpPr>
        <p:spPr>
          <a:xfrm>
            <a:off x="640080" y="4114800"/>
            <a:ext cx="10911535" cy="2057400"/>
          </a:xfrm>
          <a:prstGeom prst="roundRect">
            <a:avLst>
              <a:gd name="adj" fmla="val 6222"/>
            </a:avLst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1005840" y="4389120"/>
            <a:ext cx="54864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cap="all" spc="100">
                <a:solidFill>
                  <a:srgbClr val="F59E0B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1005840" y="4800600"/>
            <a:ext cx="10180015" cy="11887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Sustainability &amp; Social Impact: emergency vehicles stuck at red signals while the junction constable is never told.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asthead eyebrow"/>
          <p:cNvSpPr txBox="1"/>
          <p:nvPr/>
        </p:nvSpPr>
        <p:spPr>
          <a:xfrm>
            <a:off x="640080" y="365760"/>
            <a:ext cx="10911535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cap="all" spc="120">
                <a:solidFill>
                  <a:srgbClr val="B45309"/>
                </a:solidFill>
                <a:latin typeface="Arial"/>
                <a:ea typeface="Arial"/>
                <a:cs typeface="Arial"/>
              </a:rPr>
              <a:t>Google Cloud AI Builder Cup 2026 · Sustainability &amp; Social Impact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Brief about the idea</a:t>
            </a:r>
          </a:p>
        </p:txBody>
      </p:sp>
      <p:cxnSp>
        <p:nvCxnSpPr>
          <p:cNvPr id="4" name="Masthead rule"/>
          <p:cNvCxnSpPr/>
          <p:nvPr/>
        </p:nvCxnSpPr>
        <p:spPr>
          <a:xfrm>
            <a:off x="640080" y="1280160"/>
            <a:ext cx="10911535" cy="0"/>
          </a:xfrm>
          <a:prstGeom prst="line">
            <a:avLst/>
          </a:prstGeom>
          <a:ln w="15875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Lede"/>
          <p:cNvSpPr txBox="1"/>
          <p:nvPr/>
        </p:nvSpPr>
        <p:spPr>
          <a:xfrm>
            <a:off x="640080" y="1389888"/>
            <a:ext cx="10911535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Warn the junction constable early, sized to the queue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Green Corridor · Brief about the idea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9722815" y="6400800"/>
            <a:ext cx="18288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3 / 16</a:t>
            </a:r>
          </a:p>
        </p:txBody>
      </p:sp>
      <p:sp>
        <p:nvSpPr>
          <p:cNvPr id="8" name="Stat tile"/>
          <p:cNvSpPr/>
          <p:nvPr/>
        </p:nvSpPr>
        <p:spPr>
          <a:xfrm>
            <a:off x="640080" y="2057400"/>
            <a:ext cx="3515258" cy="3108960"/>
          </a:xfrm>
          <a:prstGeom prst="roundRect">
            <a:avLst>
              <a:gd name="adj" fmla="val 4117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rIns="228600" bIns="91440"/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≈ 7.9</a:t>
            </a:r>
            <a:r>
              <a:rPr sz="2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 min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saved for the critical ambulance</a:t>
            </a:r>
          </a:p>
        </p:txBody>
      </p:sp>
      <p:sp>
        <p:nvSpPr>
          <p:cNvPr id="9" name="Stat tile"/>
          <p:cNvSpPr/>
          <p:nvPr/>
        </p:nvSpPr>
        <p:spPr>
          <a:xfrm>
            <a:off x="4338218" y="2057400"/>
            <a:ext cx="3515258" cy="3108960"/>
          </a:xfrm>
          <a:prstGeom prst="roundRect">
            <a:avLst>
              <a:gd name="adj" fmla="val 4117"/>
            </a:avLst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rIns="228600" bIns="91440"/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4 vs 1</a:t>
            </a:r>
            <a:r>
              <a:rPr sz="2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 min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5E7EB"/>
                </a:solidFill>
                <a:latin typeface="Arial"/>
                <a:ea typeface="Arial"/>
                <a:cs typeface="Arial"/>
              </a:rPr>
              <a:t>warning at a 400 m queue vs a 100 m queue</a:t>
            </a:r>
          </a:p>
        </p:txBody>
      </p:sp>
      <p:sp>
        <p:nvSpPr>
          <p:cNvPr id="10" name="Stat tile"/>
          <p:cNvSpPr/>
          <p:nvPr/>
        </p:nvSpPr>
        <p:spPr>
          <a:xfrm>
            <a:off x="8036356" y="2057400"/>
            <a:ext cx="3515258" cy="3108960"/>
          </a:xfrm>
          <a:prstGeom prst="roundRect">
            <a:avLst>
              <a:gd name="adj" fmla="val 4117"/>
            </a:avLst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rIns="228600" bIns="91440"/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16.5</a:t>
            </a:r>
            <a:r>
              <a:rPr sz="2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 min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5E7EB"/>
                </a:solidFill>
                <a:latin typeface="Arial"/>
                <a:ea typeface="Arial"/>
                <a:cs typeface="Arial"/>
              </a:rPr>
              <a:t>three-vehicle total, simulated baseline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40080" y="5486400"/>
            <a:ext cx="10911535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Scripted scenario and synthetic voices, not field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asthead eyebrow"/>
          <p:cNvSpPr txBox="1"/>
          <p:nvPr/>
        </p:nvSpPr>
        <p:spPr>
          <a:xfrm>
            <a:off x="640080" y="365760"/>
            <a:ext cx="10911535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cap="all" spc="120">
                <a:solidFill>
                  <a:srgbClr val="B45309"/>
                </a:solidFill>
                <a:latin typeface="Arial"/>
                <a:ea typeface="Arial"/>
                <a:cs typeface="Arial"/>
              </a:rPr>
              <a:t>Google Cloud AI Builder Cup 2026 · Sustainability &amp; Social Impact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Opportunities</a:t>
            </a:r>
            <a:r>
              <a:rPr sz="18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(how it differs / how it solves / USP)</a:t>
            </a:r>
          </a:p>
        </p:txBody>
      </p:sp>
      <p:cxnSp>
        <p:nvCxnSpPr>
          <p:cNvPr id="4" name="Masthead rule"/>
          <p:cNvCxnSpPr/>
          <p:nvPr/>
        </p:nvCxnSpPr>
        <p:spPr>
          <a:xfrm>
            <a:off x="640080" y="1280160"/>
            <a:ext cx="10911535" cy="0"/>
          </a:xfrm>
          <a:prstGeom prst="line">
            <a:avLst/>
          </a:prstGeom>
          <a:ln w="15875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Lede"/>
          <p:cNvSpPr txBox="1"/>
          <p:nvPr/>
        </p:nvSpPr>
        <p:spPr>
          <a:xfrm>
            <a:off x="640080" y="1389888"/>
            <a:ext cx="10911535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Not a fixed radius, and not waiting for new hardware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Green Corridor · Opportunities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9722815" y="6400800"/>
            <a:ext cx="18288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4 / 16</a:t>
            </a:r>
          </a:p>
        </p:txBody>
      </p:sp>
      <p:sp>
        <p:nvSpPr>
          <p:cNvPr id="8" name="Card"/>
          <p:cNvSpPr/>
          <p:nvPr/>
        </p:nvSpPr>
        <p:spPr>
          <a:xfrm>
            <a:off x="640080" y="2057400"/>
            <a:ext cx="3515258" cy="3657600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27000" dist="38100" dir="5400000" algn="t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con"/>
          <p:cNvSpPr/>
          <p:nvPr/>
        </p:nvSpPr>
        <p:spPr>
          <a:xfrm>
            <a:off x="960119" y="2331720"/>
            <a:ext cx="640080" cy="640080"/>
          </a:xfrm>
          <a:prstGeom prst="ellipse">
            <a:avLst/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≠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960119" y="3154680"/>
            <a:ext cx="2875178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cap="all" spc="80">
                <a:solidFill>
                  <a:srgbClr val="B45309"/>
                </a:solidFill>
                <a:latin typeface="Arial"/>
                <a:ea typeface="Arial"/>
                <a:cs typeface="Arial"/>
              </a:rPr>
              <a:t>How it differs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960119" y="3611880"/>
            <a:ext cx="2875178" cy="12801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Warning sized to the queue</a:t>
            </a:r>
          </a:p>
        </p:txBody>
      </p:sp>
      <p:sp>
        <p:nvSpPr>
          <p:cNvPr id="12" name="Versus chip"/>
          <p:cNvSpPr/>
          <p:nvPr/>
        </p:nvSpPr>
        <p:spPr>
          <a:xfrm>
            <a:off x="960119" y="4937760"/>
            <a:ext cx="2875178" cy="411480"/>
          </a:xfrm>
          <a:prstGeom prst="roundRect">
            <a:avLst>
              <a:gd name="adj" fmla="val 48888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vs fixed-radius alerts</a:t>
            </a:r>
          </a:p>
        </p:txBody>
      </p:sp>
      <p:sp>
        <p:nvSpPr>
          <p:cNvPr id="13" name="Card"/>
          <p:cNvSpPr/>
          <p:nvPr/>
        </p:nvSpPr>
        <p:spPr>
          <a:xfrm>
            <a:off x="4338218" y="2057400"/>
            <a:ext cx="3515258" cy="3657600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>
            <a:outerShdw blurRad="127000" dist="38100" dir="5400000" algn="t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con"/>
          <p:cNvSpPr/>
          <p:nvPr/>
        </p:nvSpPr>
        <p:spPr>
          <a:xfrm>
            <a:off x="4658258" y="2331720"/>
            <a:ext cx="640080" cy="640080"/>
          </a:xfrm>
          <a:prstGeom prst="ellipse">
            <a:avLst/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658258" y="3154680"/>
            <a:ext cx="2875178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cap="all" spc="80">
                <a:solidFill>
                  <a:srgbClr val="B45309"/>
                </a:solidFill>
                <a:latin typeface="Arial"/>
                <a:ea typeface="Arial"/>
                <a:cs typeface="Arial"/>
              </a:rPr>
              <a:t>How it solves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4658258" y="3611880"/>
            <a:ext cx="2875178" cy="12801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Queue cleared before the siren</a:t>
            </a:r>
          </a:p>
        </p:txBody>
      </p:sp>
      <p:sp>
        <p:nvSpPr>
          <p:cNvPr id="17" name="Versus chip"/>
          <p:cNvSpPr/>
          <p:nvPr/>
        </p:nvSpPr>
        <p:spPr>
          <a:xfrm>
            <a:off x="4658258" y="4937760"/>
            <a:ext cx="2875178" cy="411480"/>
          </a:xfrm>
          <a:prstGeom prst="roundRect">
            <a:avLst>
              <a:gd name="adj" fmla="val 48888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vs manual green corridors</a:t>
            </a:r>
          </a:p>
        </p:txBody>
      </p:sp>
      <p:sp>
        <p:nvSpPr>
          <p:cNvPr id="18" name="Card"/>
          <p:cNvSpPr/>
          <p:nvPr/>
        </p:nvSpPr>
        <p:spPr>
          <a:xfrm>
            <a:off x="8036356" y="2057400"/>
            <a:ext cx="3515258" cy="3657600"/>
          </a:xfrm>
          <a:prstGeom prst="roundRect">
            <a:avLst>
              <a:gd name="adj" fmla="val 3641"/>
            </a:avLst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con"/>
          <p:cNvSpPr/>
          <p:nvPr/>
        </p:nvSpPr>
        <p:spPr>
          <a:xfrm>
            <a:off x="8356396" y="233172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★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8356396" y="3154680"/>
            <a:ext cx="2875178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cap="all" spc="80">
                <a:solidFill>
                  <a:srgbClr val="F59E0B"/>
                </a:solidFill>
                <a:latin typeface="Arial"/>
                <a:ea typeface="Arial"/>
                <a:cs typeface="Arial"/>
              </a:rPr>
              <a:t>USP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8356396" y="3611880"/>
            <a:ext cx="2875178" cy="12801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Rules decide, Gemini explains; no hardware</a:t>
            </a:r>
          </a:p>
        </p:txBody>
      </p:sp>
      <p:sp>
        <p:nvSpPr>
          <p:cNvPr id="22" name="Versus chip"/>
          <p:cNvSpPr/>
          <p:nvPr/>
        </p:nvSpPr>
        <p:spPr>
          <a:xfrm>
            <a:off x="8356396" y="4937760"/>
            <a:ext cx="2875178" cy="411480"/>
          </a:xfrm>
          <a:prstGeom prst="roundRect">
            <a:avLst>
              <a:gd name="adj" fmla="val 48888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vs IR/GPS preemption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asthead eyebrow"/>
          <p:cNvSpPr txBox="1"/>
          <p:nvPr/>
        </p:nvSpPr>
        <p:spPr>
          <a:xfrm>
            <a:off x="640080" y="365760"/>
            <a:ext cx="10911535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cap="all" spc="120">
                <a:solidFill>
                  <a:srgbClr val="B45309"/>
                </a:solidFill>
                <a:latin typeface="Arial"/>
                <a:ea typeface="Arial"/>
                <a:cs typeface="Arial"/>
              </a:rPr>
              <a:t>Google Cloud AI Builder Cup 2026 · Sustainability &amp; Social Impact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List of features</a:t>
            </a:r>
          </a:p>
        </p:txBody>
      </p:sp>
      <p:cxnSp>
        <p:nvCxnSpPr>
          <p:cNvPr id="4" name="Masthead rule"/>
          <p:cNvCxnSpPr/>
          <p:nvPr/>
        </p:nvCxnSpPr>
        <p:spPr>
          <a:xfrm>
            <a:off x="640080" y="1280160"/>
            <a:ext cx="10911535" cy="0"/>
          </a:xfrm>
          <a:prstGeom prst="line">
            <a:avLst/>
          </a:prstGeom>
          <a:ln w="15875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Lede"/>
          <p:cNvSpPr txBox="1"/>
          <p:nvPr/>
        </p:nvSpPr>
        <p:spPr>
          <a:xfrm>
            <a:off x="640080" y="1389888"/>
            <a:ext cx="10911535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Six screens and the engines behind them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Green Corridor · List of features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9722815" y="6400800"/>
            <a:ext cx="18288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5 / 16</a:t>
            </a:r>
          </a:p>
        </p:txBody>
      </p:sp>
      <p:sp>
        <p:nvSpPr>
          <p:cNvPr id="8" name="Card"/>
          <p:cNvSpPr/>
          <p:nvPr/>
        </p:nvSpPr>
        <p:spPr>
          <a:xfrm>
            <a:off x="640080" y="1965960"/>
            <a:ext cx="351525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creenshot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2057400"/>
            <a:ext cx="3332378" cy="1234440"/>
          </a:xfrm>
          <a:prstGeom prst="rect">
            <a:avLst/>
          </a:prstGeom>
          <a:ln w="9525">
            <a:solidFill>
              <a:srgbClr val="2B2D31"/>
            </a:solidFill>
          </a:ln>
          <a:effectLst>
            <a:outerShdw blurRad="152400" dist="38100" dir="5400000" algn="t" rotWithShape="0">
              <a:srgbClr val="000000">
                <a:alpha val="26000"/>
              </a:srgbClr>
            </a:outerShdw>
          </a:effectLst>
        </p:spPr>
      </p:pic>
      <p:sp>
        <p:nvSpPr>
          <p:cNvPr id="10" name="Text"/>
          <p:cNvSpPr txBox="1"/>
          <p:nvPr/>
        </p:nvSpPr>
        <p:spPr>
          <a:xfrm>
            <a:off x="749808" y="3383280"/>
            <a:ext cx="3295802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Voice triage</a:t>
            </a:r>
          </a:p>
        </p:txBody>
      </p:sp>
      <p:sp>
        <p:nvSpPr>
          <p:cNvPr id="11" name="Card"/>
          <p:cNvSpPr/>
          <p:nvPr/>
        </p:nvSpPr>
        <p:spPr>
          <a:xfrm>
            <a:off x="4338218" y="1965960"/>
            <a:ext cx="351525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creenshot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658" y="2057400"/>
            <a:ext cx="3332378" cy="1234440"/>
          </a:xfrm>
          <a:prstGeom prst="rect">
            <a:avLst/>
          </a:prstGeom>
          <a:ln w="9525">
            <a:solidFill>
              <a:srgbClr val="2B2D31"/>
            </a:solidFill>
          </a:ln>
          <a:effectLst>
            <a:outerShdw blurRad="152400" dist="38100" dir="5400000" algn="t" rotWithShape="0">
              <a:srgbClr val="000000">
                <a:alpha val="26000"/>
              </a:srgbClr>
            </a:outerShdw>
          </a:effectLst>
        </p:spPr>
      </p:pic>
      <p:sp>
        <p:nvSpPr>
          <p:cNvPr id="13" name="Text"/>
          <p:cNvSpPr txBox="1"/>
          <p:nvPr/>
        </p:nvSpPr>
        <p:spPr>
          <a:xfrm>
            <a:off x="4447946" y="3383280"/>
            <a:ext cx="3295802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Spoken cop alert</a:t>
            </a:r>
          </a:p>
        </p:txBody>
      </p:sp>
      <p:sp>
        <p:nvSpPr>
          <p:cNvPr id="14" name="Card"/>
          <p:cNvSpPr/>
          <p:nvPr/>
        </p:nvSpPr>
        <p:spPr>
          <a:xfrm>
            <a:off x="8036356" y="1965960"/>
            <a:ext cx="351525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creenshot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96" y="2057400"/>
            <a:ext cx="3332378" cy="1234440"/>
          </a:xfrm>
          <a:prstGeom prst="rect">
            <a:avLst/>
          </a:prstGeom>
          <a:ln w="9525">
            <a:solidFill>
              <a:srgbClr val="2B2D31"/>
            </a:solidFill>
          </a:ln>
          <a:effectLst>
            <a:outerShdw blurRad="152400" dist="38100" dir="5400000" algn="t" rotWithShape="0">
              <a:srgbClr val="000000">
                <a:alpha val="26000"/>
              </a:srgbClr>
            </a:outerShdw>
          </a:effectLst>
        </p:spPr>
      </p:pic>
      <p:sp>
        <p:nvSpPr>
          <p:cNvPr id="16" name="Text"/>
          <p:cNvSpPr txBox="1"/>
          <p:nvPr/>
        </p:nvSpPr>
        <p:spPr>
          <a:xfrm>
            <a:off x="8146084" y="3383280"/>
            <a:ext cx="3295802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Hospital live brief</a:t>
            </a:r>
          </a:p>
        </p:txBody>
      </p:sp>
      <p:sp>
        <p:nvSpPr>
          <p:cNvPr id="17" name="Card"/>
          <p:cNvSpPr/>
          <p:nvPr/>
        </p:nvSpPr>
        <p:spPr>
          <a:xfrm>
            <a:off x="640080" y="3886200"/>
            <a:ext cx="351525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Screenshot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19" y="3977639"/>
            <a:ext cx="3332378" cy="1234440"/>
          </a:xfrm>
          <a:prstGeom prst="rect">
            <a:avLst/>
          </a:prstGeom>
          <a:ln w="9525">
            <a:solidFill>
              <a:srgbClr val="2B2D31"/>
            </a:solidFill>
          </a:ln>
          <a:effectLst>
            <a:outerShdw blurRad="152400" dist="38100" dir="5400000" algn="t" rotWithShape="0">
              <a:srgbClr val="000000">
                <a:alpha val="26000"/>
              </a:srgbClr>
            </a:outerShdw>
          </a:effectLst>
        </p:spPr>
      </p:pic>
      <p:sp>
        <p:nvSpPr>
          <p:cNvPr id="19" name="Text"/>
          <p:cNvSpPr txBox="1"/>
          <p:nvPr/>
        </p:nvSpPr>
        <p:spPr>
          <a:xfrm>
            <a:off x="749808" y="5303520"/>
            <a:ext cx="3295802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 room board</a:t>
            </a:r>
          </a:p>
        </p:txBody>
      </p:sp>
      <p:sp>
        <p:nvSpPr>
          <p:cNvPr id="20" name="Card"/>
          <p:cNvSpPr/>
          <p:nvPr/>
        </p:nvSpPr>
        <p:spPr>
          <a:xfrm>
            <a:off x="4338218" y="3886200"/>
            <a:ext cx="351525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Screenshot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9658" y="3977639"/>
            <a:ext cx="3332378" cy="1234440"/>
          </a:xfrm>
          <a:prstGeom prst="rect">
            <a:avLst/>
          </a:prstGeom>
          <a:ln w="9525">
            <a:solidFill>
              <a:srgbClr val="2B2D31"/>
            </a:solidFill>
          </a:ln>
          <a:effectLst>
            <a:outerShdw blurRad="152400" dist="38100" dir="5400000" algn="t" rotWithShape="0">
              <a:srgbClr val="000000">
                <a:alpha val="26000"/>
              </a:srgbClr>
            </a:outerShdw>
          </a:effectLst>
        </p:spPr>
      </p:pic>
      <p:sp>
        <p:nvSpPr>
          <p:cNvPr id="22" name="Text"/>
          <p:cNvSpPr txBox="1"/>
          <p:nvPr/>
        </p:nvSpPr>
        <p:spPr>
          <a:xfrm>
            <a:off x="4447946" y="5303520"/>
            <a:ext cx="3295802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With-vs-without replay</a:t>
            </a:r>
          </a:p>
        </p:txBody>
      </p:sp>
      <p:sp>
        <p:nvSpPr>
          <p:cNvPr id="23" name="Card"/>
          <p:cNvSpPr/>
          <p:nvPr/>
        </p:nvSpPr>
        <p:spPr>
          <a:xfrm>
            <a:off x="8036356" y="3886200"/>
            <a:ext cx="351525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Screenshot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7796" y="3977639"/>
            <a:ext cx="3332378" cy="1234440"/>
          </a:xfrm>
          <a:prstGeom prst="rect">
            <a:avLst/>
          </a:prstGeom>
          <a:ln w="9525">
            <a:solidFill>
              <a:srgbClr val="2B2D31"/>
            </a:solidFill>
          </a:ln>
          <a:effectLst>
            <a:outerShdw blurRad="152400" dist="38100" dir="5400000" algn="t" rotWithShape="0">
              <a:srgbClr val="000000">
                <a:alpha val="26000"/>
              </a:srgbClr>
            </a:outerShdw>
          </a:effectLst>
        </p:spPr>
      </p:pic>
      <p:sp>
        <p:nvSpPr>
          <p:cNvPr id="25" name="Text"/>
          <p:cNvSpPr txBox="1"/>
          <p:nvPr/>
        </p:nvSpPr>
        <p:spPr>
          <a:xfrm>
            <a:off x="8146084" y="5303520"/>
            <a:ext cx="3295802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Routing agent trace</a:t>
            </a:r>
          </a:p>
        </p:txBody>
      </p:sp>
      <p:sp>
        <p:nvSpPr>
          <p:cNvPr id="26" name="Chip"/>
          <p:cNvSpPr/>
          <p:nvPr/>
        </p:nvSpPr>
        <p:spPr>
          <a:xfrm>
            <a:off x="640080" y="5897880"/>
            <a:ext cx="1727149" cy="347472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Lead time</a:t>
            </a:r>
          </a:p>
        </p:txBody>
      </p:sp>
      <p:sp>
        <p:nvSpPr>
          <p:cNvPr id="27" name="Chip"/>
          <p:cNvSpPr/>
          <p:nvPr/>
        </p:nvSpPr>
        <p:spPr>
          <a:xfrm>
            <a:off x="2476957" y="5897880"/>
            <a:ext cx="1727149" cy="347472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Sequencing</a:t>
            </a:r>
          </a:p>
        </p:txBody>
      </p:sp>
      <p:sp>
        <p:nvSpPr>
          <p:cNvPr id="28" name="Chip"/>
          <p:cNvSpPr/>
          <p:nvPr/>
        </p:nvSpPr>
        <p:spPr>
          <a:xfrm>
            <a:off x="4313834" y="5897880"/>
            <a:ext cx="1727149" cy="347472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Cop voice</a:t>
            </a:r>
          </a:p>
        </p:txBody>
      </p:sp>
      <p:sp>
        <p:nvSpPr>
          <p:cNvPr id="29" name="Chip"/>
          <p:cNvSpPr/>
          <p:nvPr/>
        </p:nvSpPr>
        <p:spPr>
          <a:xfrm>
            <a:off x="6150711" y="5897880"/>
            <a:ext cx="1727149" cy="347472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ATMIST</a:t>
            </a:r>
          </a:p>
        </p:txBody>
      </p:sp>
      <p:sp>
        <p:nvSpPr>
          <p:cNvPr id="30" name="Chip"/>
          <p:cNvSpPr/>
          <p:nvPr/>
        </p:nvSpPr>
        <p:spPr>
          <a:xfrm>
            <a:off x="7987588" y="5897880"/>
            <a:ext cx="1727149" cy="347472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After-action</a:t>
            </a:r>
          </a:p>
        </p:txBody>
      </p:sp>
      <p:sp>
        <p:nvSpPr>
          <p:cNvPr id="31" name="Chip"/>
          <p:cNvSpPr/>
          <p:nvPr/>
        </p:nvSpPr>
        <p:spPr>
          <a:xfrm>
            <a:off x="9824466" y="5897880"/>
            <a:ext cx="1727149" cy="347472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Eval harness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asthead eyebrow"/>
          <p:cNvSpPr txBox="1"/>
          <p:nvPr/>
        </p:nvSpPr>
        <p:spPr>
          <a:xfrm>
            <a:off x="640080" y="365760"/>
            <a:ext cx="10911535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cap="all" spc="120">
                <a:solidFill>
                  <a:srgbClr val="B45309"/>
                </a:solidFill>
                <a:latin typeface="Arial"/>
                <a:ea typeface="Arial"/>
                <a:cs typeface="Arial"/>
              </a:rPr>
              <a:t>Google Cloud AI Builder Cup 2026 · Sustainability &amp; Social Impact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Process flow</a:t>
            </a:r>
          </a:p>
        </p:txBody>
      </p:sp>
      <p:cxnSp>
        <p:nvCxnSpPr>
          <p:cNvPr id="4" name="Masthead rule"/>
          <p:cNvCxnSpPr/>
          <p:nvPr/>
        </p:nvCxnSpPr>
        <p:spPr>
          <a:xfrm>
            <a:off x="640080" y="1280160"/>
            <a:ext cx="10911535" cy="0"/>
          </a:xfrm>
          <a:prstGeom prst="line">
            <a:avLst/>
          </a:prstGeom>
          <a:ln w="15875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Lede"/>
          <p:cNvSpPr txBox="1"/>
          <p:nvPr/>
        </p:nvSpPr>
        <p:spPr>
          <a:xfrm>
            <a:off x="640080" y="1389888"/>
            <a:ext cx="10911535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From the crew’s words to the constable’s phone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Green Corridor · Process flow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9722815" y="6400800"/>
            <a:ext cx="18288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6 / 16</a:t>
            </a:r>
          </a:p>
        </p:txBody>
      </p:sp>
      <p:sp>
        <p:nvSpPr>
          <p:cNvPr id="8" name="Swimlane"/>
          <p:cNvSpPr/>
          <p:nvPr/>
        </p:nvSpPr>
        <p:spPr>
          <a:xfrm>
            <a:off x="640080" y="1965960"/>
            <a:ext cx="10911535" cy="1828800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822959" y="2075688"/>
            <a:ext cx="18288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cap="all" spc="100">
                <a:solidFill>
                  <a:srgbClr val="6B7280"/>
                </a:solidFill>
                <a:latin typeface="Arial"/>
                <a:ea typeface="Arial"/>
                <a:cs typeface="Arial"/>
              </a:rPr>
              <a:t>Road</a:t>
            </a:r>
          </a:p>
        </p:txBody>
      </p:sp>
      <p:sp>
        <p:nvSpPr>
          <p:cNvPr id="10" name="Swimlane"/>
          <p:cNvSpPr/>
          <p:nvPr/>
        </p:nvSpPr>
        <p:spPr>
          <a:xfrm>
            <a:off x="640080" y="3977639"/>
            <a:ext cx="10911535" cy="1783080"/>
          </a:xfrm>
          <a:prstGeom prst="roundRect">
            <a:avLst>
              <a:gd name="adj" fmla="val 6153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822959" y="4087368"/>
            <a:ext cx="18288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cap="all" spc="100">
                <a:solidFill>
                  <a:srgbClr val="6B7280"/>
                </a:solidFill>
                <a:latin typeface="Arial"/>
                <a:ea typeface="Arial"/>
                <a:cs typeface="Arial"/>
              </a:rPr>
              <a:t>Hospital</a:t>
            </a:r>
          </a:p>
        </p:txBody>
      </p:sp>
      <p:sp>
        <p:nvSpPr>
          <p:cNvPr id="12" name="Flow step"/>
          <p:cNvSpPr/>
          <p:nvPr/>
        </p:nvSpPr>
        <p:spPr>
          <a:xfrm>
            <a:off x="822959" y="2468880"/>
            <a:ext cx="1481328" cy="100584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 rIns="73152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1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Crew speaks</a:t>
            </a:r>
          </a:p>
        </p:txBody>
      </p:sp>
      <p:cxnSp>
        <p:nvCxnSpPr>
          <p:cNvPr id="13" name="Connector"/>
          <p:cNvCxnSpPr/>
          <p:nvPr/>
        </p:nvCxnSpPr>
        <p:spPr>
          <a:xfrm>
            <a:off x="2331720" y="2971800"/>
            <a:ext cx="276697" cy="0"/>
          </a:xfrm>
          <a:prstGeom prst="line">
            <a:avLst/>
          </a:prstGeom>
          <a:ln w="22225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low step"/>
          <p:cNvSpPr/>
          <p:nvPr/>
        </p:nvSpPr>
        <p:spPr>
          <a:xfrm>
            <a:off x="2635849" y="2468880"/>
            <a:ext cx="1481328" cy="100584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 rIns="73152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2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Gemini extracts</a:t>
            </a:r>
          </a:p>
        </p:txBody>
      </p:sp>
      <p:cxnSp>
        <p:nvCxnSpPr>
          <p:cNvPr id="15" name="Connector"/>
          <p:cNvCxnSpPr/>
          <p:nvPr/>
        </p:nvCxnSpPr>
        <p:spPr>
          <a:xfrm>
            <a:off x="4144609" y="2971800"/>
            <a:ext cx="276697" cy="0"/>
          </a:xfrm>
          <a:prstGeom prst="line">
            <a:avLst/>
          </a:prstGeom>
          <a:ln w="22225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low step"/>
          <p:cNvSpPr/>
          <p:nvPr/>
        </p:nvSpPr>
        <p:spPr>
          <a:xfrm>
            <a:off x="4448738" y="2468880"/>
            <a:ext cx="1481328" cy="100584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 rIns="73152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3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Crew confirms tier</a:t>
            </a:r>
          </a:p>
        </p:txBody>
      </p:sp>
      <p:cxnSp>
        <p:nvCxnSpPr>
          <p:cNvPr id="17" name="Connector"/>
          <p:cNvCxnSpPr/>
          <p:nvPr/>
        </p:nvCxnSpPr>
        <p:spPr>
          <a:xfrm>
            <a:off x="5957498" y="2971800"/>
            <a:ext cx="276698" cy="0"/>
          </a:xfrm>
          <a:prstGeom prst="line">
            <a:avLst/>
          </a:prstGeom>
          <a:ln w="22225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 step"/>
          <p:cNvSpPr/>
          <p:nvPr/>
        </p:nvSpPr>
        <p:spPr>
          <a:xfrm>
            <a:off x="6261628" y="2468880"/>
            <a:ext cx="1481328" cy="100584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 rIns="73152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4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Queue sizes alert</a:t>
            </a:r>
          </a:p>
        </p:txBody>
      </p:sp>
      <p:cxnSp>
        <p:nvCxnSpPr>
          <p:cNvPr id="19" name="Connector"/>
          <p:cNvCxnSpPr/>
          <p:nvPr/>
        </p:nvCxnSpPr>
        <p:spPr>
          <a:xfrm>
            <a:off x="7770388" y="2971800"/>
            <a:ext cx="276697" cy="0"/>
          </a:xfrm>
          <a:prstGeom prst="line">
            <a:avLst/>
          </a:prstGeom>
          <a:ln w="22225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 step"/>
          <p:cNvSpPr/>
          <p:nvPr/>
        </p:nvSpPr>
        <p:spPr>
          <a:xfrm>
            <a:off x="8074517" y="2468880"/>
            <a:ext cx="1481328" cy="100584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 rIns="73152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5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Cop hears, ACKs</a:t>
            </a:r>
          </a:p>
        </p:txBody>
      </p:sp>
      <p:cxnSp>
        <p:nvCxnSpPr>
          <p:cNvPr id="21" name="Connector"/>
          <p:cNvCxnSpPr/>
          <p:nvPr/>
        </p:nvCxnSpPr>
        <p:spPr>
          <a:xfrm>
            <a:off x="9583277" y="2971800"/>
            <a:ext cx="276698" cy="0"/>
          </a:xfrm>
          <a:prstGeom prst="line">
            <a:avLst/>
          </a:prstGeom>
          <a:ln w="22225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low step"/>
          <p:cNvSpPr/>
          <p:nvPr/>
        </p:nvSpPr>
        <p:spPr>
          <a:xfrm>
            <a:off x="9887407" y="2468880"/>
            <a:ext cx="1481328" cy="1005840"/>
          </a:xfrm>
          <a:prstGeom prst="roundRect">
            <a:avLst>
              <a:gd name="adj" fmla="val 9090"/>
            </a:avLst>
          </a:prstGeom>
          <a:solidFill>
            <a:srgbClr val="FEF3C7"/>
          </a:solidFill>
          <a:ln w="317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 rIns="73152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6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SignalAdapter (simulated)</a:t>
            </a:r>
          </a:p>
        </p:txBody>
      </p:sp>
      <p:sp>
        <p:nvSpPr>
          <p:cNvPr id="23" name="Flow step"/>
          <p:cNvSpPr/>
          <p:nvPr/>
        </p:nvSpPr>
        <p:spPr>
          <a:xfrm>
            <a:off x="6261628" y="4480559"/>
            <a:ext cx="3294217" cy="82296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91440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7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Hospital brief at ETA−5</a:t>
            </a:r>
          </a:p>
        </p:txBody>
      </p:sp>
      <p:cxnSp>
        <p:nvCxnSpPr>
          <p:cNvPr id="24" name="Connector"/>
          <p:cNvCxnSpPr/>
          <p:nvPr/>
        </p:nvCxnSpPr>
        <p:spPr>
          <a:xfrm>
            <a:off x="5189402" y="3502152"/>
            <a:ext cx="0" cy="1389888"/>
          </a:xfrm>
          <a:prstGeom prst="line">
            <a:avLst/>
          </a:prstGeom>
          <a:ln w="22225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"/>
          <p:cNvCxnSpPr/>
          <p:nvPr/>
        </p:nvCxnSpPr>
        <p:spPr>
          <a:xfrm>
            <a:off x="5189402" y="4892040"/>
            <a:ext cx="1044794" cy="0"/>
          </a:xfrm>
          <a:prstGeom prst="line">
            <a:avLst/>
          </a:prstGeom>
          <a:ln w="22225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"/>
          <p:cNvSpPr txBox="1"/>
          <p:nvPr/>
        </p:nvSpPr>
        <p:spPr>
          <a:xfrm>
            <a:off x="640080" y="5943600"/>
            <a:ext cx="10911535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Amber seam: simulated today.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asthead eyebrow"/>
          <p:cNvSpPr txBox="1"/>
          <p:nvPr/>
        </p:nvSpPr>
        <p:spPr>
          <a:xfrm>
            <a:off x="640080" y="365760"/>
            <a:ext cx="10911535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cap="all" spc="120">
                <a:solidFill>
                  <a:srgbClr val="B45309"/>
                </a:solidFill>
                <a:latin typeface="Arial"/>
                <a:ea typeface="Arial"/>
                <a:cs typeface="Arial"/>
              </a:rPr>
              <a:t>Google Cloud AI Builder Cup 2026 · Sustainability &amp; Social Impact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Wireframes</a:t>
            </a:r>
          </a:p>
        </p:txBody>
      </p:sp>
      <p:cxnSp>
        <p:nvCxnSpPr>
          <p:cNvPr id="4" name="Masthead rule"/>
          <p:cNvCxnSpPr/>
          <p:nvPr/>
        </p:nvCxnSpPr>
        <p:spPr>
          <a:xfrm>
            <a:off x="640080" y="1280160"/>
            <a:ext cx="10911535" cy="0"/>
          </a:xfrm>
          <a:prstGeom prst="line">
            <a:avLst/>
          </a:prstGeom>
          <a:ln w="15875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Lede"/>
          <p:cNvSpPr txBox="1"/>
          <p:nvPr/>
        </p:nvSpPr>
        <p:spPr>
          <a:xfrm>
            <a:off x="640080" y="1389888"/>
            <a:ext cx="10911535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Real screens from the running prototype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Green Corridor · Wireframes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9722815" y="6400800"/>
            <a:ext cx="18288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7 / 16</a:t>
            </a:r>
          </a:p>
        </p:txBody>
      </p:sp>
      <p:sp>
        <p:nvSpPr>
          <p:cNvPr id="8" name="Phone frame"/>
          <p:cNvSpPr/>
          <p:nvPr/>
        </p:nvSpPr>
        <p:spPr>
          <a:xfrm>
            <a:off x="914400" y="2011679"/>
            <a:ext cx="1725117" cy="3520440"/>
          </a:xfrm>
          <a:prstGeom prst="roundRect">
            <a:avLst>
              <a:gd name="adj" fmla="val 13781"/>
            </a:avLst>
          </a:prstGeom>
          <a:solidFill>
            <a:srgbClr val="1B1C20"/>
          </a:solidFill>
          <a:ln w="12700">
            <a:solidFill>
              <a:srgbClr val="3A3C42"/>
            </a:solidFill>
          </a:ln>
          <a:effectLst>
            <a:outerShdw blurRad="127000" dist="38100" dir="5400000" algn="t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creenshot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1542237" cy="3337560"/>
          </a:xfrm>
          <a:prstGeom prst="rect">
            <a:avLst/>
          </a:prstGeom>
        </p:spPr>
      </p:pic>
      <p:sp>
        <p:nvSpPr>
          <p:cNvPr id="10" name="Text"/>
          <p:cNvSpPr txBox="1"/>
          <p:nvPr/>
        </p:nvSpPr>
        <p:spPr>
          <a:xfrm>
            <a:off x="548640" y="5696712"/>
            <a:ext cx="2456637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Voice triage</a:t>
            </a:r>
          </a:p>
        </p:txBody>
      </p:sp>
      <p:sp>
        <p:nvSpPr>
          <p:cNvPr id="11" name="Phone frame"/>
          <p:cNvSpPr/>
          <p:nvPr/>
        </p:nvSpPr>
        <p:spPr>
          <a:xfrm>
            <a:off x="3279597" y="2011679"/>
            <a:ext cx="1725117" cy="3520440"/>
          </a:xfrm>
          <a:prstGeom prst="roundRect">
            <a:avLst>
              <a:gd name="adj" fmla="val 13781"/>
            </a:avLst>
          </a:prstGeom>
          <a:solidFill>
            <a:srgbClr val="1B1C20"/>
          </a:solidFill>
          <a:ln w="12700">
            <a:solidFill>
              <a:srgbClr val="3A3C42"/>
            </a:solidFill>
          </a:ln>
          <a:effectLst>
            <a:outerShdw blurRad="127000" dist="38100" dir="5400000" algn="t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creenshot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037" y="2103120"/>
            <a:ext cx="1542237" cy="3337560"/>
          </a:xfrm>
          <a:prstGeom prst="rect">
            <a:avLst/>
          </a:prstGeom>
        </p:spPr>
      </p:pic>
      <p:sp>
        <p:nvSpPr>
          <p:cNvPr id="13" name="Text"/>
          <p:cNvSpPr txBox="1"/>
          <p:nvPr/>
        </p:nvSpPr>
        <p:spPr>
          <a:xfrm>
            <a:off x="2913837" y="5696712"/>
            <a:ext cx="2456637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PREPARE alert</a:t>
            </a:r>
          </a:p>
        </p:txBody>
      </p:sp>
      <p:sp>
        <p:nvSpPr>
          <p:cNvPr id="14" name="Laptop frame"/>
          <p:cNvSpPr/>
          <p:nvPr/>
        </p:nvSpPr>
        <p:spPr>
          <a:xfrm>
            <a:off x="5644794" y="2139753"/>
            <a:ext cx="5632500" cy="3264293"/>
          </a:xfrm>
          <a:prstGeom prst="roundRect">
            <a:avLst>
              <a:gd name="adj" fmla="val 3361"/>
            </a:avLst>
          </a:prstGeom>
          <a:solidFill>
            <a:srgbClr val="1B1C20"/>
          </a:solidFill>
          <a:ln w="12700">
            <a:solidFill>
              <a:srgbClr val="3A3C42"/>
            </a:solidFill>
          </a:ln>
          <a:effectLst>
            <a:outerShdw blurRad="127000" dist="38100" dir="5400000" algn="t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creenshot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4522" y="2249481"/>
            <a:ext cx="5413044" cy="3044837"/>
          </a:xfrm>
          <a:prstGeom prst="rect">
            <a:avLst/>
          </a:prstGeom>
        </p:spPr>
      </p:pic>
      <p:sp>
        <p:nvSpPr>
          <p:cNvPr id="16" name="Laptop base"/>
          <p:cNvSpPr/>
          <p:nvPr/>
        </p:nvSpPr>
        <p:spPr>
          <a:xfrm>
            <a:off x="5416194" y="5404046"/>
            <a:ext cx="6089700" cy="109728"/>
          </a:xfrm>
          <a:prstGeom prst="roundRect">
            <a:avLst>
              <a:gd name="adj" fmla="val 50000"/>
            </a:avLst>
          </a:prstGeom>
          <a:solidFill>
            <a:srgbClr val="3A3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5279034" y="5696712"/>
            <a:ext cx="63640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Hospital handover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640080" y="6080760"/>
            <a:ext cx="10911535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Live rehearsal captures; synthetic patients.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asthead eyebrow"/>
          <p:cNvSpPr txBox="1"/>
          <p:nvPr/>
        </p:nvSpPr>
        <p:spPr>
          <a:xfrm>
            <a:off x="640080" y="365760"/>
            <a:ext cx="10911535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cap="all" spc="120">
                <a:solidFill>
                  <a:srgbClr val="B45309"/>
                </a:solidFill>
                <a:latin typeface="Arial"/>
                <a:ea typeface="Arial"/>
                <a:cs typeface="Arial"/>
              </a:rPr>
              <a:t>Google Cloud AI Builder Cup 2026 · Sustainability &amp; Social Impact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cxnSp>
        <p:nvCxnSpPr>
          <p:cNvPr id="4" name="Masthead rule"/>
          <p:cNvCxnSpPr/>
          <p:nvPr/>
        </p:nvCxnSpPr>
        <p:spPr>
          <a:xfrm>
            <a:off x="640080" y="1280160"/>
            <a:ext cx="10911535" cy="0"/>
          </a:xfrm>
          <a:prstGeom prst="line">
            <a:avLst/>
          </a:prstGeom>
          <a:ln w="15875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Lede"/>
          <p:cNvSpPr txBox="1"/>
          <p:nvPr/>
        </p:nvSpPr>
        <p:spPr>
          <a:xfrm>
            <a:off x="640080" y="1389888"/>
            <a:ext cx="10911535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Rules decide; Google Cloud services extract and explain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Green Corridor · Architecture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9722815" y="6400800"/>
            <a:ext cx="18288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8 / 16</a:t>
            </a:r>
          </a:p>
        </p:txBody>
      </p:sp>
      <p:pic>
        <p:nvPicPr>
          <p:cNvPr id="8" name="Figure architecture" descr="gc-architecture-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812" y="1920240"/>
            <a:ext cx="8894069" cy="393192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Rules engine on Cloud Run, Firestore event bus; the amber SignalAdapter seam is where a real controller plugs 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asthead eyebrow"/>
          <p:cNvSpPr txBox="1"/>
          <p:nvPr/>
        </p:nvSpPr>
        <p:spPr>
          <a:xfrm>
            <a:off x="640080" y="365760"/>
            <a:ext cx="10911535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cap="all" spc="120">
                <a:solidFill>
                  <a:srgbClr val="B45309"/>
                </a:solidFill>
                <a:latin typeface="Arial"/>
                <a:ea typeface="Arial"/>
                <a:cs typeface="Arial"/>
              </a:rPr>
              <a:t>Google Cloud AI Builder Cup 2026 · Sustainability &amp; Social Impact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Technologies</a:t>
            </a:r>
            <a:r>
              <a:rPr sz="18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(Google Cloud)</a:t>
            </a:r>
          </a:p>
        </p:txBody>
      </p:sp>
      <p:cxnSp>
        <p:nvCxnSpPr>
          <p:cNvPr id="4" name="Masthead rule"/>
          <p:cNvCxnSpPr/>
          <p:nvPr/>
        </p:nvCxnSpPr>
        <p:spPr>
          <a:xfrm>
            <a:off x="640080" y="1280160"/>
            <a:ext cx="10911535" cy="0"/>
          </a:xfrm>
          <a:prstGeom prst="line">
            <a:avLst/>
          </a:prstGeom>
          <a:ln w="15875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Lede"/>
          <p:cNvSpPr txBox="1"/>
          <p:nvPr/>
        </p:nvSpPr>
        <p:spPr>
          <a:xfrm>
            <a:off x="640080" y="1389888"/>
            <a:ext cx="10911535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A Google Cloud stack, from model to delivery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Green Corridor · Technologies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9722815" y="6400800"/>
            <a:ext cx="18288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9 / 16</a:t>
            </a:r>
          </a:p>
        </p:txBody>
      </p:sp>
      <p:sp>
        <p:nvSpPr>
          <p:cNvPr id="8" name="Marker"/>
          <p:cNvSpPr/>
          <p:nvPr/>
        </p:nvSpPr>
        <p:spPr>
          <a:xfrm>
            <a:off x="640080" y="2221991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1051560" y="2011679"/>
            <a:ext cx="1920240" cy="64008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 &amp; language</a:t>
            </a:r>
          </a:p>
        </p:txBody>
      </p:sp>
      <p:sp>
        <p:nvSpPr>
          <p:cNvPr id="10" name="Pill"/>
          <p:cNvSpPr/>
          <p:nvPr/>
        </p:nvSpPr>
        <p:spPr>
          <a:xfrm>
            <a:off x="3017520" y="2011679"/>
            <a:ext cx="2722778" cy="64008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Gemini on Vertex AI</a:t>
            </a:r>
          </a:p>
        </p:txBody>
      </p:sp>
      <p:sp>
        <p:nvSpPr>
          <p:cNvPr id="11" name="Pill"/>
          <p:cNvSpPr/>
          <p:nvPr/>
        </p:nvSpPr>
        <p:spPr>
          <a:xfrm>
            <a:off x="5923178" y="2011679"/>
            <a:ext cx="2722778" cy="64008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Google ADK</a:t>
            </a:r>
          </a:p>
        </p:txBody>
      </p:sp>
      <p:sp>
        <p:nvSpPr>
          <p:cNvPr id="12" name="Pill"/>
          <p:cNvSpPr/>
          <p:nvPr/>
        </p:nvSpPr>
        <p:spPr>
          <a:xfrm>
            <a:off x="8828836" y="2011679"/>
            <a:ext cx="2722778" cy="64008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Cloud Translation</a:t>
            </a:r>
          </a:p>
        </p:txBody>
      </p:sp>
      <p:sp>
        <p:nvSpPr>
          <p:cNvPr id="13" name="Marker"/>
          <p:cNvSpPr/>
          <p:nvPr/>
        </p:nvSpPr>
        <p:spPr>
          <a:xfrm>
            <a:off x="640080" y="3026663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"/>
          <p:cNvSpPr txBox="1"/>
          <p:nvPr/>
        </p:nvSpPr>
        <p:spPr>
          <a:xfrm>
            <a:off x="1051560" y="2816351"/>
            <a:ext cx="1920240" cy="64008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Maps &amp; speech</a:t>
            </a:r>
          </a:p>
        </p:txBody>
      </p:sp>
      <p:sp>
        <p:nvSpPr>
          <p:cNvPr id="15" name="Pill"/>
          <p:cNvSpPr/>
          <p:nvPr/>
        </p:nvSpPr>
        <p:spPr>
          <a:xfrm>
            <a:off x="3017520" y="2816351"/>
            <a:ext cx="2722778" cy="64008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Routes API</a:t>
            </a:r>
          </a:p>
        </p:txBody>
      </p:sp>
      <p:sp>
        <p:nvSpPr>
          <p:cNvPr id="16" name="Pill"/>
          <p:cNvSpPr/>
          <p:nvPr/>
        </p:nvSpPr>
        <p:spPr>
          <a:xfrm>
            <a:off x="5923178" y="2816351"/>
            <a:ext cx="2722778" cy="64008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Text-to-Speech</a:t>
            </a:r>
          </a:p>
        </p:txBody>
      </p:sp>
      <p:sp>
        <p:nvSpPr>
          <p:cNvPr id="17" name="Pill"/>
          <p:cNvSpPr/>
          <p:nvPr/>
        </p:nvSpPr>
        <p:spPr>
          <a:xfrm>
            <a:off x="8828836" y="2816351"/>
            <a:ext cx="2722778" cy="64008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Cloud Storage</a:t>
            </a:r>
          </a:p>
        </p:txBody>
      </p:sp>
      <p:sp>
        <p:nvSpPr>
          <p:cNvPr id="18" name="Marker"/>
          <p:cNvSpPr/>
          <p:nvPr/>
        </p:nvSpPr>
        <p:spPr>
          <a:xfrm>
            <a:off x="640080" y="3831336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1051560" y="3621024"/>
            <a:ext cx="1920240" cy="64008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Run &amp; data</a:t>
            </a:r>
          </a:p>
        </p:txBody>
      </p:sp>
      <p:sp>
        <p:nvSpPr>
          <p:cNvPr id="20" name="Pill"/>
          <p:cNvSpPr/>
          <p:nvPr/>
        </p:nvSpPr>
        <p:spPr>
          <a:xfrm>
            <a:off x="3017520" y="3621024"/>
            <a:ext cx="2722778" cy="64008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Cloud Run</a:t>
            </a:r>
          </a:p>
        </p:txBody>
      </p:sp>
      <p:sp>
        <p:nvSpPr>
          <p:cNvPr id="21" name="Pill"/>
          <p:cNvSpPr/>
          <p:nvPr/>
        </p:nvSpPr>
        <p:spPr>
          <a:xfrm>
            <a:off x="5923178" y="3621024"/>
            <a:ext cx="2722778" cy="64008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Firestore</a:t>
            </a:r>
          </a:p>
        </p:txBody>
      </p:sp>
      <p:sp>
        <p:nvSpPr>
          <p:cNvPr id="22" name="Pill"/>
          <p:cNvSpPr/>
          <p:nvPr/>
        </p:nvSpPr>
        <p:spPr>
          <a:xfrm>
            <a:off x="8828836" y="3621024"/>
            <a:ext cx="2722778" cy="64008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BigQuery</a:t>
            </a:r>
          </a:p>
        </p:txBody>
      </p:sp>
      <p:sp>
        <p:nvSpPr>
          <p:cNvPr id="23" name="Marker"/>
          <p:cNvSpPr/>
          <p:nvPr/>
        </p:nvSpPr>
        <p:spPr>
          <a:xfrm>
            <a:off x="640080" y="4636008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"/>
          <p:cNvSpPr txBox="1"/>
          <p:nvPr/>
        </p:nvSpPr>
        <p:spPr>
          <a:xfrm>
            <a:off x="1051560" y="4425696"/>
            <a:ext cx="1920240" cy="64008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25" name="Pill"/>
          <p:cNvSpPr/>
          <p:nvPr/>
        </p:nvSpPr>
        <p:spPr>
          <a:xfrm>
            <a:off x="3017520" y="4425696"/>
            <a:ext cx="2722778" cy="64008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Firebase Hosting</a:t>
            </a:r>
          </a:p>
        </p:txBody>
      </p:sp>
      <p:sp>
        <p:nvSpPr>
          <p:cNvPr id="26" name="Pill"/>
          <p:cNvSpPr/>
          <p:nvPr/>
        </p:nvSpPr>
        <p:spPr>
          <a:xfrm>
            <a:off x="5923178" y="4425696"/>
            <a:ext cx="2722778" cy="64008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Cloud Build</a:t>
            </a:r>
          </a:p>
        </p:txBody>
      </p:sp>
      <p:sp>
        <p:nvSpPr>
          <p:cNvPr id="27" name="Pill"/>
          <p:cNvSpPr/>
          <p:nvPr/>
        </p:nvSpPr>
        <p:spPr>
          <a:xfrm>
            <a:off x="8828836" y="4425696"/>
            <a:ext cx="2722778" cy="64008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Secret Manager</a:t>
            </a:r>
          </a:p>
        </p:txBody>
      </p:sp>
      <p:sp>
        <p:nvSpPr>
          <p:cNvPr id="28" name="BigQuery ML note"/>
          <p:cNvSpPr/>
          <p:nvPr/>
        </p:nvSpPr>
        <p:spPr>
          <a:xfrm>
            <a:off x="640080" y="5321807"/>
            <a:ext cx="10911535" cy="640080"/>
          </a:xfrm>
          <a:prstGeom prst="roundRect">
            <a:avLst>
              <a:gd name="adj" fmla="val 14285"/>
            </a:avLst>
          </a:prstGeom>
          <a:solidFill>
            <a:srgbClr val="F5F6F7"/>
          </a:solidFill>
          <a:ln w="952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rIns="182880" bIns="0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BigQuery ML  </a:t>
            </a:r>
            <a:r>
              <a:rPr sz="16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pipeline in place; model retrained on peak rows before submission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asthead eyebrow"/>
          <p:cNvSpPr txBox="1"/>
          <p:nvPr/>
        </p:nvSpPr>
        <p:spPr>
          <a:xfrm>
            <a:off x="640080" y="365760"/>
            <a:ext cx="10911535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cap="all" spc="120">
                <a:solidFill>
                  <a:srgbClr val="B45309"/>
                </a:solidFill>
                <a:latin typeface="Arial"/>
                <a:ea typeface="Arial"/>
                <a:cs typeface="Arial"/>
              </a:rPr>
              <a:t>Google Cloud AI Builder Cup 2026 · Sustainability &amp; Social Impact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Estimated implementation cost</a:t>
            </a:r>
          </a:p>
        </p:txBody>
      </p:sp>
      <p:cxnSp>
        <p:nvCxnSpPr>
          <p:cNvPr id="4" name="Masthead rule"/>
          <p:cNvCxnSpPr/>
          <p:nvPr/>
        </p:nvCxnSpPr>
        <p:spPr>
          <a:xfrm>
            <a:off x="640080" y="1280160"/>
            <a:ext cx="10911535" cy="0"/>
          </a:xfrm>
          <a:prstGeom prst="line">
            <a:avLst/>
          </a:prstGeom>
          <a:ln w="15875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Lede"/>
          <p:cNvSpPr txBox="1"/>
          <p:nvPr/>
        </p:nvSpPr>
        <p:spPr>
          <a:xfrm>
            <a:off x="640080" y="1389888"/>
            <a:ext cx="10911535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About ₹155 per vehicle-hour, almost all of it Routes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Green Corridor · Estimated implementation cost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9722815" y="6400800"/>
            <a:ext cx="18288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  <p:sp>
        <p:nvSpPr>
          <p:cNvPr id="8" name="Stat tile"/>
          <p:cNvSpPr/>
          <p:nvPr/>
        </p:nvSpPr>
        <p:spPr>
          <a:xfrm>
            <a:off x="640080" y="2057400"/>
            <a:ext cx="3515258" cy="1691640"/>
          </a:xfrm>
          <a:prstGeom prst="roundRect">
            <a:avLst>
              <a:gd name="adj" fmla="val 7567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rIns="228600" bIns="91440"/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≈ ₹155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per vehicle-hour (estimate)</a:t>
            </a:r>
          </a:p>
        </p:txBody>
      </p:sp>
      <p:sp>
        <p:nvSpPr>
          <p:cNvPr id="9" name="Stat tile"/>
          <p:cNvSpPr/>
          <p:nvPr/>
        </p:nvSpPr>
        <p:spPr>
          <a:xfrm>
            <a:off x="4338218" y="2057400"/>
            <a:ext cx="3515258" cy="1691640"/>
          </a:xfrm>
          <a:prstGeom prst="roundRect">
            <a:avLst>
              <a:gd name="adj" fmla="val 7567"/>
            </a:avLst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rIns="228600" bIns="91440"/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≈ ₹50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5E7EB"/>
                </a:solidFill>
                <a:latin typeface="Arial"/>
                <a:ea typeface="Arial"/>
                <a:cs typeface="Arial"/>
              </a:rPr>
              <a:t>per 20-min run</a:t>
            </a:r>
          </a:p>
        </p:txBody>
      </p:sp>
      <p:sp>
        <p:nvSpPr>
          <p:cNvPr id="10" name="Stat tile"/>
          <p:cNvSpPr/>
          <p:nvPr/>
        </p:nvSpPr>
        <p:spPr>
          <a:xfrm>
            <a:off x="8036356" y="2057400"/>
            <a:ext cx="3515258" cy="1691640"/>
          </a:xfrm>
          <a:prstGeom prst="roundRect">
            <a:avLst>
              <a:gd name="adj" fmla="val 7567"/>
            </a:avLst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rIns="228600" bIns="91440"/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≈ ₹5,000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5E7EB"/>
                </a:solidFill>
                <a:latin typeface="Arial"/>
                <a:ea typeface="Arial"/>
                <a:cs typeface="Arial"/>
              </a:rPr>
              <a:t>city-month at 100 runs (illustrative)</a:t>
            </a:r>
          </a:p>
        </p:txBody>
      </p:sp>
      <p:sp>
        <p:nvSpPr>
          <p:cNvPr id="11" name="Cost cell"/>
          <p:cNvSpPr txBox="1"/>
          <p:nvPr/>
        </p:nvSpPr>
        <p:spPr>
          <a:xfrm>
            <a:off x="731519" y="4023360"/>
            <a:ext cx="2194560" cy="56692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Routes</a:t>
            </a:r>
          </a:p>
        </p:txBody>
      </p:sp>
      <p:sp>
        <p:nvSpPr>
          <p:cNvPr id="12" name="Cost cell"/>
          <p:cNvSpPr txBox="1"/>
          <p:nvPr/>
        </p:nvSpPr>
        <p:spPr>
          <a:xfrm>
            <a:off x="3108960" y="4023360"/>
            <a:ext cx="3108960" cy="56692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3/min × 60 × ₹0.85</a:t>
            </a:r>
          </a:p>
        </p:txBody>
      </p:sp>
      <p:sp>
        <p:nvSpPr>
          <p:cNvPr id="13" name="Cost cell"/>
          <p:cNvSpPr txBox="1"/>
          <p:nvPr/>
        </p:nvSpPr>
        <p:spPr>
          <a:xfrm>
            <a:off x="6400800" y="4023360"/>
            <a:ext cx="1280160" cy="56692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₹153</a:t>
            </a:r>
          </a:p>
        </p:txBody>
      </p:sp>
      <p:cxnSp>
        <p:nvCxnSpPr>
          <p:cNvPr id="14" name="Connector"/>
          <p:cNvCxnSpPr/>
          <p:nvPr/>
        </p:nvCxnSpPr>
        <p:spPr>
          <a:xfrm>
            <a:off x="640080" y="4590288"/>
            <a:ext cx="7132320" cy="0"/>
          </a:xfrm>
          <a:prstGeom prst="line">
            <a:avLst/>
          </a:prstGeom>
          <a:ln w="9525">
            <a:solidFill>
              <a:srgbClr val="D9DA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st cell"/>
          <p:cNvSpPr txBox="1"/>
          <p:nvPr/>
        </p:nvSpPr>
        <p:spPr>
          <a:xfrm>
            <a:off x="731519" y="4590288"/>
            <a:ext cx="2194560" cy="56692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Gemini</a:t>
            </a:r>
          </a:p>
        </p:txBody>
      </p:sp>
      <p:sp>
        <p:nvSpPr>
          <p:cNvPr id="16" name="Cost cell"/>
          <p:cNvSpPr txBox="1"/>
          <p:nvPr/>
        </p:nvSpPr>
        <p:spPr>
          <a:xfrm>
            <a:off x="3108960" y="4590288"/>
            <a:ext cx="3108960" cy="56692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17 × ₹0.02</a:t>
            </a:r>
          </a:p>
        </p:txBody>
      </p:sp>
      <p:sp>
        <p:nvSpPr>
          <p:cNvPr id="17" name="Cost cell"/>
          <p:cNvSpPr txBox="1"/>
          <p:nvPr/>
        </p:nvSpPr>
        <p:spPr>
          <a:xfrm>
            <a:off x="6400800" y="4590288"/>
            <a:ext cx="1280160" cy="56692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₹0.34</a:t>
            </a:r>
          </a:p>
        </p:txBody>
      </p:sp>
      <p:cxnSp>
        <p:nvCxnSpPr>
          <p:cNvPr id="18" name="Connector"/>
          <p:cNvCxnSpPr/>
          <p:nvPr/>
        </p:nvCxnSpPr>
        <p:spPr>
          <a:xfrm>
            <a:off x="640080" y="5157216"/>
            <a:ext cx="7132320" cy="0"/>
          </a:xfrm>
          <a:prstGeom prst="line">
            <a:avLst/>
          </a:prstGeom>
          <a:ln w="9525">
            <a:solidFill>
              <a:srgbClr val="D9DA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st cell"/>
          <p:cNvSpPr txBox="1"/>
          <p:nvPr/>
        </p:nvSpPr>
        <p:spPr>
          <a:xfrm>
            <a:off x="731519" y="5157216"/>
            <a:ext cx="2194560" cy="56692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Text-to-Speech</a:t>
            </a:r>
          </a:p>
        </p:txBody>
      </p:sp>
      <p:sp>
        <p:nvSpPr>
          <p:cNvPr id="20" name="Cost cell"/>
          <p:cNvSpPr txBox="1"/>
          <p:nvPr/>
        </p:nvSpPr>
        <p:spPr>
          <a:xfrm>
            <a:off x="3108960" y="5157216"/>
            <a:ext cx="3108960" cy="56692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1" name="Cost cell"/>
          <p:cNvSpPr txBox="1"/>
          <p:nvPr/>
        </p:nvSpPr>
        <p:spPr>
          <a:xfrm>
            <a:off x="6400800" y="5157216"/>
            <a:ext cx="1280160" cy="56692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₹1.30</a:t>
            </a:r>
          </a:p>
        </p:txBody>
      </p:sp>
      <p:cxnSp>
        <p:nvCxnSpPr>
          <p:cNvPr id="22" name="Connector"/>
          <p:cNvCxnSpPr/>
          <p:nvPr/>
        </p:nvCxnSpPr>
        <p:spPr>
          <a:xfrm>
            <a:off x="640080" y="5724144"/>
            <a:ext cx="7132320" cy="0"/>
          </a:xfrm>
          <a:prstGeom prst="line">
            <a:avLst/>
          </a:prstGeom>
          <a:ln w="9525">
            <a:solidFill>
              <a:srgbClr val="D9DA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ever"/>
          <p:cNvSpPr/>
          <p:nvPr/>
        </p:nvSpPr>
        <p:spPr>
          <a:xfrm>
            <a:off x="8138160" y="4023360"/>
            <a:ext cx="3413455" cy="1700784"/>
          </a:xfrm>
          <a:prstGeom prst="roundRect">
            <a:avLst>
              <a:gd name="adj" fmla="val 645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182880" bIns="91440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Lever: cache Routes beyond today's 20 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asthead eyebrow"/>
          <p:cNvSpPr txBox="1"/>
          <p:nvPr/>
        </p:nvSpPr>
        <p:spPr>
          <a:xfrm>
            <a:off x="640080" y="365760"/>
            <a:ext cx="10911535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cap="all" spc="120">
                <a:solidFill>
                  <a:srgbClr val="B45309"/>
                </a:solidFill>
                <a:latin typeface="Arial"/>
                <a:ea typeface="Arial"/>
                <a:cs typeface="Arial"/>
              </a:rPr>
              <a:t>Google Cloud AI Builder Cup 2026 · Sustainability &amp; Social Impact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Snapshots of the prototype</a:t>
            </a:r>
          </a:p>
        </p:txBody>
      </p:sp>
      <p:cxnSp>
        <p:nvCxnSpPr>
          <p:cNvPr id="4" name="Masthead rule"/>
          <p:cNvCxnSpPr/>
          <p:nvPr/>
        </p:nvCxnSpPr>
        <p:spPr>
          <a:xfrm>
            <a:off x="640080" y="1280160"/>
            <a:ext cx="10911535" cy="0"/>
          </a:xfrm>
          <a:prstGeom prst="line">
            <a:avLst/>
          </a:prstGeom>
          <a:ln w="15875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Lede"/>
          <p:cNvSpPr txBox="1"/>
          <p:nvPr/>
        </p:nvSpPr>
        <p:spPr>
          <a:xfrm>
            <a:off x="640080" y="1389888"/>
            <a:ext cx="10911535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The loop, mid-run, from the live rehearsal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Green Corridor · Snapshots of the prototype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9722815" y="6400800"/>
            <a:ext cx="18288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  <p:pic>
        <p:nvPicPr>
          <p:cNvPr id="8" name="Screenshot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79"/>
            <a:ext cx="6035040" cy="3383280"/>
          </a:xfrm>
          <a:prstGeom prst="rect">
            <a:avLst/>
          </a:prstGeom>
          <a:ln w="9525">
            <a:solidFill>
              <a:srgbClr val="2B2D31"/>
            </a:solidFill>
          </a:ln>
          <a:effectLst>
            <a:outerShdw blurRad="152400" dist="38100" dir="5400000" algn="t" rotWithShape="0">
              <a:srgbClr val="000000">
                <a:alpha val="26000"/>
              </a:srgbClr>
            </a:outerShdw>
          </a:effectLst>
        </p:spPr>
      </p:pic>
      <p:sp>
        <p:nvSpPr>
          <p:cNvPr id="9" name="Text"/>
          <p:cNvSpPr txBox="1"/>
          <p:nvPr/>
        </p:nvSpPr>
        <p:spPr>
          <a:xfrm>
            <a:off x="640080" y="5486400"/>
            <a:ext cx="603504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Replay simulator</a:t>
            </a:r>
          </a:p>
        </p:txBody>
      </p:sp>
      <p:pic>
        <p:nvPicPr>
          <p:cNvPr id="10" name="Screenshot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011679"/>
            <a:ext cx="4510735" cy="1463040"/>
          </a:xfrm>
          <a:prstGeom prst="rect">
            <a:avLst/>
          </a:prstGeom>
          <a:ln w="9525">
            <a:solidFill>
              <a:srgbClr val="2B2D31"/>
            </a:solidFill>
          </a:ln>
          <a:effectLst>
            <a:outerShdw blurRad="152400" dist="38100" dir="5400000" algn="t" rotWithShape="0">
              <a:srgbClr val="000000">
                <a:alpha val="26000"/>
              </a:srgbClr>
            </a:outerShdw>
          </a:effectLst>
        </p:spPr>
      </p:pic>
      <p:sp>
        <p:nvSpPr>
          <p:cNvPr id="11" name="Text"/>
          <p:cNvSpPr txBox="1"/>
          <p:nvPr/>
        </p:nvSpPr>
        <p:spPr>
          <a:xfrm>
            <a:off x="7040880" y="3566160"/>
            <a:ext cx="4510735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Control room</a:t>
            </a:r>
          </a:p>
        </p:txBody>
      </p:sp>
      <p:pic>
        <p:nvPicPr>
          <p:cNvPr id="12" name="Screenshot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3977639"/>
            <a:ext cx="4510735" cy="1417320"/>
          </a:xfrm>
          <a:prstGeom prst="rect">
            <a:avLst/>
          </a:prstGeom>
          <a:ln w="9525">
            <a:solidFill>
              <a:srgbClr val="2B2D31"/>
            </a:solidFill>
          </a:ln>
          <a:effectLst>
            <a:outerShdw blurRad="152400" dist="38100" dir="5400000" algn="t" rotWithShape="0">
              <a:srgbClr val="000000">
                <a:alpha val="26000"/>
              </a:srgbClr>
            </a:outerShdw>
          </a:effectLst>
        </p:spPr>
      </p:pic>
      <p:sp>
        <p:nvSpPr>
          <p:cNvPr id="13" name="Text"/>
          <p:cNvSpPr txBox="1"/>
          <p:nvPr/>
        </p:nvSpPr>
        <p:spPr>
          <a:xfrm>
            <a:off x="7040880" y="5486400"/>
            <a:ext cx="4510735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STOP alert, spoken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asthead eyebrow"/>
          <p:cNvSpPr txBox="1"/>
          <p:nvPr/>
        </p:nvSpPr>
        <p:spPr>
          <a:xfrm>
            <a:off x="640080" y="365760"/>
            <a:ext cx="10911535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cap="all" spc="120">
                <a:solidFill>
                  <a:srgbClr val="B45309"/>
                </a:solidFill>
                <a:latin typeface="Arial"/>
                <a:ea typeface="Arial"/>
                <a:cs typeface="Arial"/>
              </a:rPr>
              <a:t>Google Cloud AI Builder Cup 2026 · Sustainability &amp; Social Impact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Snapshots of the prototype</a:t>
            </a:r>
            <a:r>
              <a:rPr sz="18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(routing agent)</a:t>
            </a:r>
          </a:p>
        </p:txBody>
      </p:sp>
      <p:cxnSp>
        <p:nvCxnSpPr>
          <p:cNvPr id="4" name="Masthead rule"/>
          <p:cNvCxnSpPr/>
          <p:nvPr/>
        </p:nvCxnSpPr>
        <p:spPr>
          <a:xfrm>
            <a:off x="640080" y="1280160"/>
            <a:ext cx="10911535" cy="0"/>
          </a:xfrm>
          <a:prstGeom prst="line">
            <a:avLst/>
          </a:prstGeom>
          <a:ln w="15875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Lede"/>
          <p:cNvSpPr txBox="1"/>
          <p:nvPr/>
        </p:nvSpPr>
        <p:spPr>
          <a:xfrm>
            <a:off x="640080" y="1389888"/>
            <a:ext cx="10911535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Live routing trace: Jayadeva chosen, two alternatives rejected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Green Corridor · Snapshots of the prototype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9722815" y="6400800"/>
            <a:ext cx="18288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  <p:sp>
        <p:nvSpPr>
          <p:cNvPr id="8" name="Figure trace"/>
          <p:cNvSpPr/>
          <p:nvPr/>
        </p:nvSpPr>
        <p:spPr>
          <a:xfrm>
            <a:off x="640080" y="2057400"/>
            <a:ext cx="6035040" cy="3566160"/>
          </a:xfrm>
          <a:prstGeom prst="roundRect">
            <a:avLst>
              <a:gd name="adj" fmla="val 3589"/>
            </a:avLst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 rIns="228600" bIns="182880"/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F59E0B"/>
                </a:solidFill>
                <a:latin typeface="Courier New"/>
                <a:ea typeface="Courier New"/>
                <a:cs typeface="Courier New"/>
              </a:rPr>
              <a:t>1  </a:t>
            </a:r>
            <a:r>
              <a:rPr sz="1400" b="0">
                <a:solidFill>
                  <a:srgbClr val="E5E7EB"/>
                </a:solidFill>
                <a:latin typeface="Courier New"/>
                <a:ea typeface="Courier New"/>
                <a:cs typeface="Courier New"/>
              </a:rPr>
              <a:t>required_capabilities(critical) -&gt; cath_lab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F59E0B"/>
                </a:solidFill>
                <a:latin typeface="Courier New"/>
                <a:ea typeface="Courier New"/>
                <a:cs typeface="Courier New"/>
              </a:rPr>
              <a:t>2  </a:t>
            </a:r>
            <a:r>
              <a:rPr sz="1400" b="0">
                <a:solidFill>
                  <a:srgbClr val="E5E7EB"/>
                </a:solidFill>
                <a:latin typeface="Courier New"/>
                <a:ea typeface="Courier New"/>
                <a:cs typeface="Courier New"/>
              </a:rPr>
              <a:t>list_hospitals(blr) -&gt; 3 hospitals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F59E0B"/>
                </a:solidFill>
                <a:latin typeface="Courier New"/>
                <a:ea typeface="Courier New"/>
                <a:cs typeface="Courier New"/>
              </a:rPr>
              <a:t>3  </a:t>
            </a:r>
            <a:r>
              <a:rPr sz="1400" b="0">
                <a:solidFill>
                  <a:srgbClr val="E5E7EB"/>
                </a:solidFill>
                <a:latin typeface="Courier New"/>
                <a:ea typeface="Courier New"/>
                <a:cs typeface="Courier New"/>
              </a:rPr>
              <a:t>check_diversion(Jayadeva) -&gt; accepting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F59E0B"/>
                </a:solidFill>
                <a:latin typeface="Courier New"/>
                <a:ea typeface="Courier New"/>
                <a:cs typeface="Courier New"/>
              </a:rPr>
              <a:t>4  </a:t>
            </a:r>
            <a:r>
              <a:rPr sz="1400" b="0">
                <a:solidFill>
                  <a:srgbClr val="E5E7EB"/>
                </a:solidFill>
                <a:latin typeface="Courier New"/>
                <a:ea typeface="Courier New"/>
                <a:cs typeface="Courier New"/>
              </a:rPr>
              <a:t>check_diversion(Apollo) -&gt; on diversion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F59E0B"/>
                </a:solidFill>
                <a:latin typeface="Courier New"/>
                <a:ea typeface="Courier New"/>
                <a:cs typeface="Courier New"/>
              </a:rPr>
              <a:t>5  </a:t>
            </a:r>
            <a:r>
              <a:rPr sz="1400" b="0">
                <a:solidFill>
                  <a:srgbClr val="E5E7EB"/>
                </a:solidFill>
                <a:latin typeface="Courier New"/>
                <a:ea typeface="Courier New"/>
                <a:cs typeface="Courier New"/>
              </a:rPr>
              <a:t>eta_to(Jayadeva) -&gt; 373 s, 2.6 km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F59E0B"/>
                </a:solidFill>
                <a:latin typeface="Courier New"/>
                <a:ea typeface="Courier New"/>
                <a:cs typeface="Courier New"/>
              </a:rPr>
              <a:t>6  </a:t>
            </a:r>
            <a:r>
              <a:rPr sz="1400" b="0">
                <a:solidFill>
                  <a:srgbClr val="E5E7EB"/>
                </a:solidFill>
                <a:latin typeface="Courier New"/>
                <a:ea typeface="Courier New"/>
                <a:cs typeface="Courier New"/>
              </a:rPr>
              <a:t>Added to baseline: icu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Destination Jayadeva, confidence 1.0</a:t>
            </a:r>
          </a:p>
        </p:txBody>
      </p:sp>
      <p:pic>
        <p:nvPicPr>
          <p:cNvPr id="9" name="Screenshot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57400"/>
            <a:ext cx="4602175" cy="3108960"/>
          </a:xfrm>
          <a:prstGeom prst="rect">
            <a:avLst/>
          </a:prstGeom>
          <a:ln w="9525">
            <a:solidFill>
              <a:srgbClr val="2B2D31"/>
            </a:solidFill>
          </a:ln>
          <a:effectLst>
            <a:outerShdw blurRad="152400" dist="38100" dir="5400000" algn="t" rotWithShape="0">
              <a:srgbClr val="000000">
                <a:alpha val="26000"/>
              </a:srgbClr>
            </a:outerShdw>
          </a:effectLst>
        </p:spPr>
      </p:pic>
      <p:sp>
        <p:nvSpPr>
          <p:cNvPr id="10" name="Text"/>
          <p:cNvSpPr txBox="1"/>
          <p:nvPr/>
        </p:nvSpPr>
        <p:spPr>
          <a:xfrm>
            <a:off x="6949440" y="5303520"/>
            <a:ext cx="4602175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The trace as shown in /vehicle.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asthead eyebrow"/>
          <p:cNvSpPr txBox="1"/>
          <p:nvPr/>
        </p:nvSpPr>
        <p:spPr>
          <a:xfrm>
            <a:off x="640080" y="365760"/>
            <a:ext cx="10911535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cap="all" spc="120">
                <a:solidFill>
                  <a:srgbClr val="B45309"/>
                </a:solidFill>
                <a:latin typeface="Arial"/>
                <a:ea typeface="Arial"/>
                <a:cs typeface="Arial"/>
              </a:rPr>
              <a:t>Google Cloud AI Builder Cup 2026 · Sustainability &amp; Social Impact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Performance report / benchmarking</a:t>
            </a:r>
          </a:p>
        </p:txBody>
      </p:sp>
      <p:cxnSp>
        <p:nvCxnSpPr>
          <p:cNvPr id="4" name="Masthead rule"/>
          <p:cNvCxnSpPr/>
          <p:nvPr/>
        </p:nvCxnSpPr>
        <p:spPr>
          <a:xfrm>
            <a:off x="640080" y="1280160"/>
            <a:ext cx="10911535" cy="0"/>
          </a:xfrm>
          <a:prstGeom prst="line">
            <a:avLst/>
          </a:prstGeom>
          <a:ln w="15875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Lede"/>
          <p:cNvSpPr txBox="1"/>
          <p:nvPr/>
        </p:nvSpPr>
        <p:spPr>
          <a:xfrm>
            <a:off x="640080" y="1389888"/>
            <a:ext cx="10911535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Synthetic-voice results, scripted-run timings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Green Corridor · Performance report / benchmarking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9722815" y="6400800"/>
            <a:ext cx="18288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  <p:sp>
        <p:nvSpPr>
          <p:cNvPr id="8" name="Stat tile"/>
          <p:cNvSpPr/>
          <p:nvPr/>
        </p:nvSpPr>
        <p:spPr>
          <a:xfrm>
            <a:off x="640080" y="2011679"/>
            <a:ext cx="3515258" cy="1737360"/>
          </a:xfrm>
          <a:prstGeom prst="roundRect">
            <a:avLst>
              <a:gd name="adj" fmla="val 7368"/>
            </a:avLst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rIns="228600" bIns="91440"/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90</a:t>
            </a:r>
            <a:r>
              <a:rPr sz="2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 %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5E7EB"/>
                </a:solidFill>
                <a:latin typeface="Arial"/>
                <a:ea typeface="Arial"/>
                <a:cs typeface="Arial"/>
              </a:rPr>
              <a:t>field accuracy</a:t>
            </a:r>
          </a:p>
        </p:txBody>
      </p:sp>
      <p:sp>
        <p:nvSpPr>
          <p:cNvPr id="9" name="Stat tile"/>
          <p:cNvSpPr/>
          <p:nvPr/>
        </p:nvSpPr>
        <p:spPr>
          <a:xfrm>
            <a:off x="4338218" y="2011679"/>
            <a:ext cx="3515258" cy="1737360"/>
          </a:xfrm>
          <a:prstGeom prst="roundRect">
            <a:avLst>
              <a:gd name="adj" fmla="val 7368"/>
            </a:avLst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rIns="228600" bIns="91440"/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100</a:t>
            </a:r>
            <a:r>
              <a:rPr sz="2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 %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5E7EB"/>
                </a:solidFill>
                <a:latin typeface="Arial"/>
                <a:ea typeface="Arial"/>
                <a:cs typeface="Arial"/>
              </a:rPr>
              <a:t>tier accuracy</a:t>
            </a:r>
          </a:p>
        </p:txBody>
      </p:sp>
      <p:sp>
        <p:nvSpPr>
          <p:cNvPr id="10" name="Stat tile"/>
          <p:cNvSpPr/>
          <p:nvPr/>
        </p:nvSpPr>
        <p:spPr>
          <a:xfrm>
            <a:off x="8036356" y="2011679"/>
            <a:ext cx="3515258" cy="1737360"/>
          </a:xfrm>
          <a:prstGeom prst="roundRect">
            <a:avLst>
              <a:gd name="adj" fmla="val 7368"/>
            </a:avLst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rIns="228600" bIns="91440"/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3.5</a:t>
            </a:r>
            <a:r>
              <a:rPr sz="2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 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5E7EB"/>
                </a:solidFill>
                <a:latin typeface="Arial"/>
                <a:ea typeface="Arial"/>
                <a:cs typeface="Arial"/>
              </a:rPr>
              <a:t>mean extraction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40080" y="3886200"/>
            <a:ext cx="10911535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11 synthetic clips, the ones the fix targeted; real clips pending. Before the fix: 87 % / 73 %.</a:t>
            </a:r>
          </a:p>
        </p:txBody>
      </p:sp>
      <p:sp>
        <p:nvSpPr>
          <p:cNvPr id="12" name="Stat tile"/>
          <p:cNvSpPr/>
          <p:nvPr/>
        </p:nvSpPr>
        <p:spPr>
          <a:xfrm>
            <a:off x="640080" y="4389120"/>
            <a:ext cx="5120640" cy="1645920"/>
          </a:xfrm>
          <a:prstGeom prst="roundRect">
            <a:avLst>
              <a:gd name="adj" fmla="val 7777"/>
            </a:avLst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rIns="228600" bIns="91440"/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17 / 37</a:t>
            </a:r>
            <a:r>
              <a:rPr sz="2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 ms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5E7EB"/>
                </a:solidFill>
                <a:latin typeface="Arial"/>
                <a:ea typeface="Arial"/>
                <a:cs typeface="Arial"/>
              </a:rPr>
              <a:t>/location p50 / p95, offline</a:t>
            </a:r>
          </a:p>
        </p:txBody>
      </p:sp>
      <p:sp>
        <p:nvSpPr>
          <p:cNvPr id="13" name="Stat tile"/>
          <p:cNvSpPr/>
          <p:nvPr/>
        </p:nvSpPr>
        <p:spPr>
          <a:xfrm>
            <a:off x="6035040" y="4389120"/>
            <a:ext cx="5516575" cy="1645920"/>
          </a:xfrm>
          <a:prstGeom prst="roundRect">
            <a:avLst>
              <a:gd name="adj" fmla="val 7777"/>
            </a:avLst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rIns="182880" bIns="91440"/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344</a:t>
            </a:r>
            <a:r>
              <a:rPr sz="1800" b="0">
                <a:solidFill>
                  <a:srgbClr val="E5E7EB"/>
                </a:solidFill>
                <a:latin typeface="Arial"/>
                <a:ea typeface="Arial"/>
                <a:cs typeface="Arial"/>
              </a:rPr>
              <a:t> Python · </a:t>
            </a:r>
            <a:r>
              <a:rPr sz="3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138</a:t>
            </a:r>
            <a:r>
              <a:rPr sz="1800" b="0">
                <a:solidFill>
                  <a:srgbClr val="E5E7EB"/>
                </a:solidFill>
                <a:latin typeface="Arial"/>
                <a:ea typeface="Arial"/>
                <a:cs typeface="Arial"/>
              </a:rPr>
              <a:t> web tests</a:t>
            </a:r>
          </a:p>
          <a:p>
            <a:pPr algn="l">
              <a:spcAft>
                <a:spcPts val="600"/>
              </a:spcAft>
            </a:pPr>
            <a:r>
              <a:rPr sz="3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98 %</a:t>
            </a:r>
            <a:r>
              <a:rPr sz="1800" b="0">
                <a:solidFill>
                  <a:srgbClr val="E5E7EB"/>
                </a:solidFill>
                <a:latin typeface="Arial"/>
                <a:ea typeface="Arial"/>
                <a:cs typeface="Arial"/>
              </a:rPr>
              <a:t> coverage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asthead eyebrow"/>
          <p:cNvSpPr txBox="1"/>
          <p:nvPr/>
        </p:nvSpPr>
        <p:spPr>
          <a:xfrm>
            <a:off x="640080" y="365760"/>
            <a:ext cx="10911535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cap="all" spc="120">
                <a:solidFill>
                  <a:srgbClr val="B45309"/>
                </a:solidFill>
                <a:latin typeface="Arial"/>
                <a:ea typeface="Arial"/>
                <a:cs typeface="Arial"/>
              </a:rPr>
              <a:t>Google Cloud AI Builder Cup 2026 · Sustainability &amp; Social Impact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Additional details / future development</a:t>
            </a:r>
          </a:p>
        </p:txBody>
      </p:sp>
      <p:cxnSp>
        <p:nvCxnSpPr>
          <p:cNvPr id="4" name="Masthead rule"/>
          <p:cNvCxnSpPr/>
          <p:nvPr/>
        </p:nvCxnSpPr>
        <p:spPr>
          <a:xfrm>
            <a:off x="640080" y="1280160"/>
            <a:ext cx="10911535" cy="0"/>
          </a:xfrm>
          <a:prstGeom prst="line">
            <a:avLst/>
          </a:prstGeom>
          <a:ln w="15875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Lede"/>
          <p:cNvSpPr txBox="1"/>
          <p:nvPr/>
        </p:nvSpPr>
        <p:spPr>
          <a:xfrm>
            <a:off x="640080" y="1389888"/>
            <a:ext cx="10911535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From constable to controller, in three steps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Green Corridor · Additional details / future development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9722815" y="6400800"/>
            <a:ext cx="18288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  <p:sp>
        <p:nvSpPr>
          <p:cNvPr id="8" name="Roadmap step"/>
          <p:cNvSpPr/>
          <p:nvPr/>
        </p:nvSpPr>
        <p:spPr>
          <a:xfrm>
            <a:off x="640080" y="2057400"/>
            <a:ext cx="3063240" cy="2286000"/>
          </a:xfrm>
          <a:prstGeom prst="roundRect">
            <a:avLst>
              <a:gd name="adj" fmla="val 5600"/>
            </a:avLst>
          </a:prstGeom>
          <a:solidFill>
            <a:srgbClr val="14171B"/>
          </a:solidFill>
          <a:ln>
            <a:noFill/>
          </a:ln>
          <a:effectLst>
            <a:outerShdw blurRad="127000" dist="38100" dir="5400000" algn="t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28600" bIns="182880"/>
          <a:lstStyle/>
          <a:p>
            <a:pPr algn="l">
              <a:spcAft>
                <a:spcPts val="1200"/>
              </a:spcAft>
            </a:pPr>
            <a:r>
              <a:rPr sz="1200" b="1" cap="all" spc="100">
                <a:solidFill>
                  <a:srgbClr val="F59E0B"/>
                </a:solidFill>
                <a:latin typeface="Arial"/>
                <a:ea typeface="Arial"/>
                <a:cs typeface="Arial"/>
              </a:rPr>
              <a:t>Today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Constable alerts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5E7EB"/>
                </a:solidFill>
                <a:latin typeface="Arial"/>
                <a:ea typeface="Arial"/>
                <a:cs typeface="Arial"/>
              </a:rPr>
              <a:t>Spoken alert, one ACK.</a:t>
            </a:r>
          </a:p>
        </p:txBody>
      </p:sp>
      <p:cxnSp>
        <p:nvCxnSpPr>
          <p:cNvPr id="9" name="Connector"/>
          <p:cNvCxnSpPr/>
          <p:nvPr/>
        </p:nvCxnSpPr>
        <p:spPr>
          <a:xfrm>
            <a:off x="3813048" y="3383280"/>
            <a:ext cx="641451" cy="0"/>
          </a:xfrm>
          <a:prstGeom prst="line">
            <a:avLst/>
          </a:prstGeom>
          <a:ln w="28575">
            <a:solidFill>
              <a:srgbClr val="B4530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admap step"/>
          <p:cNvSpPr/>
          <p:nvPr/>
        </p:nvSpPr>
        <p:spPr>
          <a:xfrm>
            <a:off x="4564227" y="2057400"/>
            <a:ext cx="3063240" cy="2286000"/>
          </a:xfrm>
          <a:prstGeom prst="roundRect">
            <a:avLst>
              <a:gd name="adj" fmla="val 5600"/>
            </a:avLst>
          </a:prstGeom>
          <a:solidFill>
            <a:srgbClr val="FEF3C7"/>
          </a:solidFill>
          <a:ln w="25400">
            <a:solidFill>
              <a:srgbClr val="F59E0B"/>
            </a:solidFill>
          </a:ln>
          <a:effectLst>
            <a:outerShdw blurRad="127000" dist="38100" dir="5400000" algn="t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28600" bIns="182880"/>
          <a:lstStyle/>
          <a:p>
            <a:pPr algn="l">
              <a:spcAft>
                <a:spcPts val="1200"/>
              </a:spcAft>
            </a:pPr>
            <a:r>
              <a:rPr sz="1200" b="1" cap="all" spc="100">
                <a:solidFill>
                  <a:srgbClr val="B45309"/>
                </a:solidFill>
                <a:latin typeface="Arial"/>
                <a:ea typeface="Arial"/>
                <a:cs typeface="Arial"/>
              </a:rPr>
              <a:t>Phase 2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Signal controllers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Constables no longer clear queues by hand.</a:t>
            </a:r>
          </a:p>
        </p:txBody>
      </p:sp>
      <p:cxnSp>
        <p:nvCxnSpPr>
          <p:cNvPr id="11" name="Connector"/>
          <p:cNvCxnSpPr/>
          <p:nvPr/>
        </p:nvCxnSpPr>
        <p:spPr>
          <a:xfrm>
            <a:off x="7737195" y="3383280"/>
            <a:ext cx="641452" cy="0"/>
          </a:xfrm>
          <a:prstGeom prst="line">
            <a:avLst/>
          </a:prstGeom>
          <a:ln w="28575">
            <a:solidFill>
              <a:srgbClr val="B4530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admap step"/>
          <p:cNvSpPr/>
          <p:nvPr/>
        </p:nvSpPr>
        <p:spPr>
          <a:xfrm>
            <a:off x="8488375" y="2057400"/>
            <a:ext cx="306324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28600" bIns="182880"/>
          <a:lstStyle/>
          <a:p>
            <a:pPr algn="l">
              <a:spcAft>
                <a:spcPts val="1200"/>
              </a:spcAft>
            </a:pPr>
            <a:r>
              <a:rPr sz="1200" b="1" cap="all" spc="100">
                <a:solidFill>
                  <a:srgbClr val="B45309"/>
                </a:solidFill>
                <a:latin typeface="Arial"/>
                <a:ea typeface="Arial"/>
                <a:cs typeface="Arial"/>
              </a:rPr>
              <a:t>Phase 3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Learning controller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Peak-hour spans already logged.</a:t>
            </a:r>
          </a:p>
        </p:txBody>
      </p:sp>
      <p:sp>
        <p:nvSpPr>
          <p:cNvPr id="13" name="Limits"/>
          <p:cNvSpPr/>
          <p:nvPr/>
        </p:nvSpPr>
        <p:spPr>
          <a:xfrm>
            <a:off x="640080" y="4663440"/>
            <a:ext cx="10911535" cy="1005840"/>
          </a:xfrm>
          <a:prstGeom prst="roundRect">
            <a:avLst>
              <a:gd name="adj" fmla="val 10909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91440" rIns="320040" bIns="91440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Signals simulated, patients synthetic, minutes saved estimated.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asthead eyebrow"/>
          <p:cNvSpPr txBox="1"/>
          <p:nvPr/>
        </p:nvSpPr>
        <p:spPr>
          <a:xfrm>
            <a:off x="640080" y="365760"/>
            <a:ext cx="10911535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cap="all" spc="120">
                <a:solidFill>
                  <a:srgbClr val="B45309"/>
                </a:solidFill>
                <a:latin typeface="Arial"/>
                <a:ea typeface="Arial"/>
                <a:cs typeface="Arial"/>
              </a:rPr>
              <a:t>Google Cloud AI Builder Cup 2026 · Sustainability &amp; Social Impact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Links</a:t>
            </a:r>
          </a:p>
        </p:txBody>
      </p:sp>
      <p:cxnSp>
        <p:nvCxnSpPr>
          <p:cNvPr id="4" name="Masthead rule"/>
          <p:cNvCxnSpPr/>
          <p:nvPr/>
        </p:nvCxnSpPr>
        <p:spPr>
          <a:xfrm>
            <a:off x="640080" y="1280160"/>
            <a:ext cx="10911535" cy="0"/>
          </a:xfrm>
          <a:prstGeom prst="line">
            <a:avLst/>
          </a:prstGeom>
          <a:ln w="15875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Lede"/>
          <p:cNvSpPr txBox="1"/>
          <p:nvPr/>
        </p:nvSpPr>
        <p:spPr>
          <a:xfrm>
            <a:off x="640080" y="1389888"/>
            <a:ext cx="10911535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Try it, read the code, watch the demo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Green Corridor · Links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9722815" y="6400800"/>
            <a:ext cx="18288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  <p:sp>
        <p:nvSpPr>
          <p:cNvPr id="8" name="Link tile"/>
          <p:cNvSpPr/>
          <p:nvPr/>
        </p:nvSpPr>
        <p:spPr>
          <a:xfrm>
            <a:off x="640080" y="2011679"/>
            <a:ext cx="2522143" cy="4023360"/>
          </a:xfrm>
          <a:prstGeom prst="roundRect">
            <a:avLst>
              <a:gd name="adj" fmla="val 5075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914400" y="2240279"/>
            <a:ext cx="1973503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cap="all" spc="80">
                <a:solidFill>
                  <a:srgbClr val="6B7280"/>
                </a:solidFill>
                <a:latin typeface="Arial"/>
                <a:ea typeface="Arial"/>
                <a:cs typeface="Arial"/>
              </a:rPr>
              <a:t>GitHub Public Repository</a:t>
            </a:r>
          </a:p>
        </p:txBody>
      </p:sp>
      <p:pic>
        <p:nvPicPr>
          <p:cNvPr id="10" name="QR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11" y="2697480"/>
            <a:ext cx="2011680" cy="201168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777240" y="4983479"/>
            <a:ext cx="2247823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github.com/Nandish3010/ideal-disco</a:t>
            </a:r>
          </a:p>
        </p:txBody>
      </p:sp>
      <p:sp>
        <p:nvSpPr>
          <p:cNvPr id="12" name="Link tile"/>
          <p:cNvSpPr/>
          <p:nvPr/>
        </p:nvSpPr>
        <p:spPr>
          <a:xfrm>
            <a:off x="3436543" y="2011679"/>
            <a:ext cx="2522143" cy="4023360"/>
          </a:xfrm>
          <a:prstGeom prst="roundRect">
            <a:avLst>
              <a:gd name="adj" fmla="val 5075"/>
            </a:avLst>
          </a:prstGeom>
          <a:solidFill>
            <a:srgbClr val="FFFFFF"/>
          </a:solidFill>
          <a:ln w="952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710863" y="2240279"/>
            <a:ext cx="1973503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cap="all" spc="80">
                <a:solidFill>
                  <a:srgbClr val="6B7280"/>
                </a:solidFill>
                <a:latin typeface="Arial"/>
                <a:ea typeface="Arial"/>
                <a:cs typeface="Arial"/>
              </a:rPr>
              <a:t>Demo Video (3 minutes)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3710863" y="3246120"/>
            <a:ext cx="1973503" cy="12801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[link + QR at submission]</a:t>
            </a:r>
          </a:p>
        </p:txBody>
      </p:sp>
      <p:sp>
        <p:nvSpPr>
          <p:cNvPr id="15" name="Link tile"/>
          <p:cNvSpPr/>
          <p:nvPr/>
        </p:nvSpPr>
        <p:spPr>
          <a:xfrm>
            <a:off x="6233007" y="2011679"/>
            <a:ext cx="2522143" cy="4023360"/>
          </a:xfrm>
          <a:prstGeom prst="roundRect">
            <a:avLst>
              <a:gd name="adj" fmla="val 5075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 txBox="1"/>
          <p:nvPr/>
        </p:nvSpPr>
        <p:spPr>
          <a:xfrm>
            <a:off x="6507327" y="2240279"/>
            <a:ext cx="1973503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cap="all" spc="80">
                <a:solidFill>
                  <a:srgbClr val="6B7280"/>
                </a:solidFill>
                <a:latin typeface="Arial"/>
                <a:ea typeface="Arial"/>
                <a:cs typeface="Arial"/>
              </a:rPr>
              <a:t>Final Product</a:t>
            </a:r>
          </a:p>
        </p:txBody>
      </p:sp>
      <p:pic>
        <p:nvPicPr>
          <p:cNvPr id="17" name="QR" descr="image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8239" y="2697480"/>
            <a:ext cx="2011680" cy="2011680"/>
          </a:xfrm>
          <a:prstGeom prst="rect">
            <a:avLst/>
          </a:prstGeom>
        </p:spPr>
      </p:pic>
      <p:sp>
        <p:nvSpPr>
          <p:cNvPr id="18" name="Text"/>
          <p:cNvSpPr txBox="1"/>
          <p:nvPr/>
        </p:nvSpPr>
        <p:spPr>
          <a:xfrm>
            <a:off x="6370167" y="4983479"/>
            <a:ext cx="2247823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green-corridor-2026.web.app</a:t>
            </a:r>
          </a:p>
        </p:txBody>
      </p:sp>
      <p:sp>
        <p:nvSpPr>
          <p:cNvPr id="19" name="Link tile"/>
          <p:cNvSpPr/>
          <p:nvPr/>
        </p:nvSpPr>
        <p:spPr>
          <a:xfrm>
            <a:off x="9029471" y="2011679"/>
            <a:ext cx="2522143" cy="4023360"/>
          </a:xfrm>
          <a:prstGeom prst="roundRect">
            <a:avLst>
              <a:gd name="adj" fmla="val 5075"/>
            </a:avLst>
          </a:prstGeom>
          <a:solidFill>
            <a:srgbClr val="FFFFFF"/>
          </a:solidFill>
          <a:ln w="9525">
            <a:solidFill>
              <a:srgbClr val="D9D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"/>
          <p:cNvSpPr txBox="1"/>
          <p:nvPr/>
        </p:nvSpPr>
        <p:spPr>
          <a:xfrm>
            <a:off x="9303791" y="2240279"/>
            <a:ext cx="1973503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cap="all" spc="80">
                <a:solidFill>
                  <a:srgbClr val="6B7280"/>
                </a:solidFill>
                <a:latin typeface="Arial"/>
                <a:ea typeface="Arial"/>
                <a:cs typeface="Arial"/>
              </a:rPr>
              <a:t>Submission deck</a:t>
            </a:r>
          </a:p>
        </p:txBody>
      </p:sp>
      <p:pic>
        <p:nvPicPr>
          <p:cNvPr id="21" name="QR" descr="image.pn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4703" y="2697480"/>
            <a:ext cx="2011680" cy="2011680"/>
          </a:xfrm>
          <a:prstGeom prst="rect">
            <a:avLst/>
          </a:prstGeom>
        </p:spPr>
      </p:pic>
      <p:sp>
        <p:nvSpPr>
          <p:cNvPr id="22" name="Text"/>
          <p:cNvSpPr txBox="1"/>
          <p:nvPr/>
        </p:nvSpPr>
        <p:spPr>
          <a:xfrm>
            <a:off x="9166631" y="4983479"/>
            <a:ext cx="2247823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green-corridor-2026.web.app/deck.pdf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 eyebrow"/>
          <p:cNvSpPr txBox="1"/>
          <p:nvPr/>
        </p:nvSpPr>
        <p:spPr>
          <a:xfrm>
            <a:off x="640080" y="1920240"/>
            <a:ext cx="91440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cap="all" spc="140">
                <a:solidFill>
                  <a:srgbClr val="F59E0B"/>
                </a:solidFill>
                <a:latin typeface="Arial"/>
                <a:ea typeface="Arial"/>
                <a:cs typeface="Arial"/>
              </a:rPr>
              <a:t>Google Cloud AI Builder Cup 2026 · Sustainability &amp; Social Impact</a:t>
            </a:r>
          </a:p>
        </p:txBody>
      </p:sp>
      <p:cxnSp>
        <p:nvCxnSpPr>
          <p:cNvPr id="3" name="Connector"/>
          <p:cNvCxnSpPr/>
          <p:nvPr/>
        </p:nvCxnSpPr>
        <p:spPr>
          <a:xfrm>
            <a:off x="640080" y="2377440"/>
            <a:ext cx="822960" cy="0"/>
          </a:xfrm>
          <a:prstGeom prst="line">
            <a:avLst/>
          </a:prstGeom>
          <a:ln w="38100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losing title"/>
          <p:cNvSpPr txBox="1"/>
          <p:nvPr/>
        </p:nvSpPr>
        <p:spPr>
          <a:xfrm>
            <a:off x="640080" y="2651760"/>
            <a:ext cx="10515600" cy="1645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F5F5F4"/>
                </a:solidFill>
                <a:latin typeface="Arial"/>
                <a:ea typeface="Arial"/>
                <a:cs typeface="Arial"/>
              </a:rPr>
              <a:t>Warn the constable</a:t>
            </a:r>
          </a:p>
          <a:p>
            <a:pPr algn="l">
              <a:spcAft>
                <a:spcPts val="0"/>
              </a:spcAft>
            </a:pPr>
            <a:r>
              <a:rPr sz="5400" b="1">
                <a:solidFill>
                  <a:srgbClr val="F5F5F4"/>
                </a:solidFill>
                <a:latin typeface="Arial"/>
                <a:ea typeface="Arial"/>
                <a:cs typeface="Arial"/>
              </a:rPr>
              <a:t>before the siren arrives.</a:t>
            </a:r>
          </a:p>
        </p:txBody>
      </p:sp>
      <p:sp>
        <p:nvSpPr>
          <p:cNvPr id="5" name="Closing links"/>
          <p:cNvSpPr txBox="1"/>
          <p:nvPr/>
        </p:nvSpPr>
        <p:spPr>
          <a:xfrm>
            <a:off x="640080" y="4480560"/>
            <a:ext cx="100584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59E0B"/>
                </a:solidFill>
                <a:latin typeface="Arial"/>
                <a:ea typeface="Arial"/>
                <a:cs typeface="Arial"/>
              </a:rPr>
              <a:t>Try it: green-corridor-2026.web.app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59E0B"/>
                </a:solidFill>
                <a:latin typeface="Arial"/>
                <a:ea typeface="Arial"/>
                <a:cs typeface="Arial"/>
              </a:rPr>
              <a:t>Read it: github.com/Nandish3010/ideal-disco</a:t>
            </a:r>
          </a:p>
        </p:txBody>
      </p:sp>
      <p:sp>
        <p:nvSpPr>
          <p:cNvPr id="6" name="Closing byline"/>
          <p:cNvSpPr txBox="1"/>
          <p:nvPr/>
        </p:nvSpPr>
        <p:spPr>
          <a:xfrm>
            <a:off x="640080" y="5669280"/>
            <a:ext cx="73152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Built by Nandish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Green Corridor · Thank you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9722815" y="6400800"/>
            <a:ext cx="182880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Emergency Green Corridor: submission deck</dc:title>
  <dc:subject/>
  <dc:creator>Nandish</dc:creator>
  <cp:keywords/>
  <dc:description>generated using python-pptx</dc:description>
  <cp:lastModifiedBy>Nandish</cp:lastModifiedBy>
  <cp:revision>1</cp:revision>
  <dcterms:created xsi:type="dcterms:W3CDTF">2013-01-27T09:14:16Z</dcterms:created>
  <dcterms:modified xsi:type="dcterms:W3CDTF">2013-01-27T09:15:58Z</dcterms:modified>
  <cp:category/>
</cp:coreProperties>
</file>