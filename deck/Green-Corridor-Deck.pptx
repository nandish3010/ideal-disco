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Nandish3010/ideal-disco" TargetMode="External"/><Relationship Id="rId4" Type="http://schemas.openxmlformats.org/officeDocument/2006/relationships/image" Target="../media/image16.png"/><Relationship Id="rId5" Type="http://schemas.openxmlformats.org/officeDocument/2006/relationships/hyperlink" Target="https://green-corridor-2026.web.app" TargetMode="External"/><Relationship Id="rId6" Type="http://schemas.openxmlformats.org/officeDocument/2006/relationships/image" Target="../media/image17.png"/><Relationship Id="rId7" Type="http://schemas.openxmlformats.org/officeDocument/2006/relationships/hyperlink" Target="https://green-corridor-2026.web.app/deck.pdf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eyebrow"/>
          <p:cNvSpPr txBox="1"/>
          <p:nvPr/>
        </p:nvSpPr>
        <p:spPr>
          <a:xfrm>
            <a:off x="640080" y="1737360"/>
            <a:ext cx="105156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40">
                <a:solidFill>
                  <a:srgbClr val="F59E0B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40080" y="2194560"/>
            <a:ext cx="822960" cy="0"/>
          </a:xfrm>
          <a:prstGeom prst="line">
            <a:avLst/>
          </a:prstGeom>
          <a:ln w="3810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ver title"/>
          <p:cNvSpPr txBox="1"/>
          <p:nvPr/>
        </p:nvSpPr>
        <p:spPr>
          <a:xfrm>
            <a:off x="640080" y="2514600"/>
            <a:ext cx="5760720" cy="1737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Emergency Green Corridor</a:t>
            </a:r>
          </a:p>
        </p:txBody>
      </p:sp>
      <p:sp>
        <p:nvSpPr>
          <p:cNvPr id="5" name="Cover tagline"/>
          <p:cNvSpPr txBox="1"/>
          <p:nvPr/>
        </p:nvSpPr>
        <p:spPr>
          <a:xfrm>
            <a:off x="640080" y="4343400"/>
            <a:ext cx="54864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Warning the junction constable before the siren arrives.</a:t>
            </a:r>
          </a:p>
        </p:txBody>
      </p:sp>
      <p:sp>
        <p:nvSpPr>
          <p:cNvPr id="6" name="Cover byline"/>
          <p:cNvSpPr txBox="1"/>
          <p:nvPr/>
        </p:nvSpPr>
        <p:spPr>
          <a:xfrm>
            <a:off x="640080" y="5669280"/>
            <a:ext cx="566928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Nandish · green-corridor-2026.web.app</a:t>
            </a:r>
          </a:p>
        </p:txBody>
      </p:sp>
      <p:sp>
        <p:nvSpPr>
          <p:cNvPr id="7" name="Cover stat"/>
          <p:cNvSpPr/>
          <p:nvPr/>
        </p:nvSpPr>
        <p:spPr>
          <a:xfrm>
            <a:off x="6812280" y="2286000"/>
            <a:ext cx="4754880" cy="3017520"/>
          </a:xfrm>
          <a:prstGeom prst="roundRect">
            <a:avLst>
              <a:gd name="adj" fmla="val 484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 rIns="320040" bIns="182880"/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60 %+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of Karnataka 108 cardiac, stroke, respiratory calls missed the 10-minute target</a:t>
            </a:r>
          </a:p>
        </p:txBody>
      </p:sp>
      <p:sp>
        <p:nvSpPr>
          <p:cNvPr id="8" name="Cover citation"/>
          <p:cNvSpPr txBox="1"/>
          <p:nvPr/>
        </p:nvSpPr>
        <p:spPr>
          <a:xfrm>
            <a:off x="6812280" y="5440680"/>
            <a:ext cx="475488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Source: CAG audit of Karnataka 108 EMS, 2014–19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details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 solo entry, built end to end by one contributor.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Team details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 / 17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914400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Team name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914400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 Corridor</a:t>
            </a:r>
          </a:p>
        </p:txBody>
      </p:sp>
      <p:sp>
        <p:nvSpPr>
          <p:cNvPr id="11" name="Card"/>
          <p:cNvSpPr/>
          <p:nvPr/>
        </p:nvSpPr>
        <p:spPr>
          <a:xfrm>
            <a:off x="4338218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 txBox="1"/>
          <p:nvPr/>
        </p:nvSpPr>
        <p:spPr>
          <a:xfrm>
            <a:off x="4612538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Team leader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612538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Nandish</a:t>
            </a:r>
          </a:p>
        </p:txBody>
      </p:sp>
      <p:sp>
        <p:nvSpPr>
          <p:cNvPr id="14" name="Card"/>
          <p:cNvSpPr/>
          <p:nvPr/>
        </p:nvSpPr>
        <p:spPr>
          <a:xfrm>
            <a:off x="8036356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8310676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Contributors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310676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Sole contributor</a:t>
            </a:r>
          </a:p>
        </p:txBody>
      </p:sp>
      <p:sp>
        <p:nvSpPr>
          <p:cNvPr id="17" name="Problem card"/>
          <p:cNvSpPr/>
          <p:nvPr/>
        </p:nvSpPr>
        <p:spPr>
          <a:xfrm>
            <a:off x="640080" y="4114800"/>
            <a:ext cx="10911535" cy="2057400"/>
          </a:xfrm>
          <a:prstGeom prst="roundRect">
            <a:avLst>
              <a:gd name="adj" fmla="val 6222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1005840" y="4389120"/>
            <a:ext cx="54864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Problem statement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1005840" y="4800600"/>
            <a:ext cx="10180015" cy="11887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Sustainability &amp; Social Impact: emergency vehicles stuck at red signals while the junction constable is never told.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Brief about the idea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Warn the junction constable early, sized to the queue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Brief about the idea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3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≈ 7.9</a:t>
            </a: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saved for the critical ambulance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4 vs 1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warning at a 400 m queue vs a 100 m queue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16.5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three-vehicle total, simulated baseline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40080" y="548640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Scripted scenario and synthetic voices, not field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Opportunities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(how it differs / how it solves / USP)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Not a fixed radius, and not waiting for new hardware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Opportunities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4 / 17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con"/>
          <p:cNvSpPr/>
          <p:nvPr/>
        </p:nvSpPr>
        <p:spPr>
          <a:xfrm>
            <a:off x="960119" y="2331720"/>
            <a:ext cx="640080" cy="640080"/>
          </a:xfrm>
          <a:prstGeom prst="ellipse">
            <a:avLst/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960119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B45309"/>
                </a:solidFill>
                <a:latin typeface="Arial"/>
                <a:ea typeface="Arial"/>
                <a:cs typeface="Arial"/>
              </a:rPr>
              <a:t>How it differs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960119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Warning sized to the queue</a:t>
            </a:r>
          </a:p>
        </p:txBody>
      </p:sp>
      <p:sp>
        <p:nvSpPr>
          <p:cNvPr id="12" name="Versus chip"/>
          <p:cNvSpPr/>
          <p:nvPr/>
        </p:nvSpPr>
        <p:spPr>
          <a:xfrm>
            <a:off x="960119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vs fixed-radius alerts</a:t>
            </a:r>
          </a:p>
        </p:txBody>
      </p:sp>
      <p:sp>
        <p:nvSpPr>
          <p:cNvPr id="13" name="Card"/>
          <p:cNvSpPr/>
          <p:nvPr/>
        </p:nvSpPr>
        <p:spPr>
          <a:xfrm>
            <a:off x="4338218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con"/>
          <p:cNvSpPr/>
          <p:nvPr/>
        </p:nvSpPr>
        <p:spPr>
          <a:xfrm>
            <a:off x="4658258" y="2331720"/>
            <a:ext cx="640080" cy="640080"/>
          </a:xfrm>
          <a:prstGeom prst="ellipse">
            <a:avLst/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4658258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B45309"/>
                </a:solidFill>
                <a:latin typeface="Arial"/>
                <a:ea typeface="Arial"/>
                <a:cs typeface="Arial"/>
              </a:rPr>
              <a:t>How it solves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4658258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Queue cleared before the siren</a:t>
            </a:r>
          </a:p>
        </p:txBody>
      </p:sp>
      <p:sp>
        <p:nvSpPr>
          <p:cNvPr id="17" name="Versus chip"/>
          <p:cNvSpPr/>
          <p:nvPr/>
        </p:nvSpPr>
        <p:spPr>
          <a:xfrm>
            <a:off x="4658258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vs manual green corridors</a:t>
            </a:r>
          </a:p>
        </p:txBody>
      </p:sp>
      <p:sp>
        <p:nvSpPr>
          <p:cNvPr id="18" name="Card"/>
          <p:cNvSpPr/>
          <p:nvPr/>
        </p:nvSpPr>
        <p:spPr>
          <a:xfrm>
            <a:off x="8036356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con"/>
          <p:cNvSpPr/>
          <p:nvPr/>
        </p:nvSpPr>
        <p:spPr>
          <a:xfrm>
            <a:off x="8356396" y="23317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★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356396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F59E0B"/>
                </a:solidFill>
                <a:latin typeface="Arial"/>
                <a:ea typeface="Arial"/>
                <a:cs typeface="Arial"/>
              </a:rPr>
              <a:t>USP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356396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Rules decide, Gemini explains; no hardware</a:t>
            </a:r>
          </a:p>
        </p:txBody>
      </p:sp>
      <p:sp>
        <p:nvSpPr>
          <p:cNvPr id="22" name="Versus chip"/>
          <p:cNvSpPr/>
          <p:nvPr/>
        </p:nvSpPr>
        <p:spPr>
          <a:xfrm>
            <a:off x="8356396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2A2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vs IR/GPS preemption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List of features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Six screens and the engines behind them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List of features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5 / 17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0" name="Text"/>
          <p:cNvSpPr txBox="1"/>
          <p:nvPr/>
        </p:nvSpPr>
        <p:spPr>
          <a:xfrm>
            <a:off x="749808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Voice triage</a:t>
            </a:r>
          </a:p>
        </p:txBody>
      </p:sp>
      <p:sp>
        <p:nvSpPr>
          <p:cNvPr id="11" name="Card"/>
          <p:cNvSpPr/>
          <p:nvPr/>
        </p:nvSpPr>
        <p:spPr>
          <a:xfrm>
            <a:off x="4338218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658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3" name="Text"/>
          <p:cNvSpPr txBox="1"/>
          <p:nvPr/>
        </p:nvSpPr>
        <p:spPr>
          <a:xfrm>
            <a:off x="4447946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Spoken cop alert</a:t>
            </a:r>
          </a:p>
        </p:txBody>
      </p:sp>
      <p:sp>
        <p:nvSpPr>
          <p:cNvPr id="14" name="Card"/>
          <p:cNvSpPr/>
          <p:nvPr/>
        </p:nvSpPr>
        <p:spPr>
          <a:xfrm>
            <a:off x="8036356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6" name="Text"/>
          <p:cNvSpPr txBox="1"/>
          <p:nvPr/>
        </p:nvSpPr>
        <p:spPr>
          <a:xfrm>
            <a:off x="8146084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Hospital live brief</a:t>
            </a:r>
          </a:p>
        </p:txBody>
      </p:sp>
      <p:sp>
        <p:nvSpPr>
          <p:cNvPr id="17" name="Card"/>
          <p:cNvSpPr/>
          <p:nvPr/>
        </p:nvSpPr>
        <p:spPr>
          <a:xfrm>
            <a:off x="640080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Screenshot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19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9" name="Text"/>
          <p:cNvSpPr txBox="1"/>
          <p:nvPr/>
        </p:nvSpPr>
        <p:spPr>
          <a:xfrm>
            <a:off x="749808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 room board</a:t>
            </a:r>
          </a:p>
        </p:txBody>
      </p:sp>
      <p:sp>
        <p:nvSpPr>
          <p:cNvPr id="20" name="Card"/>
          <p:cNvSpPr/>
          <p:nvPr/>
        </p:nvSpPr>
        <p:spPr>
          <a:xfrm>
            <a:off x="4338218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creenshot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9658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22" name="Text"/>
          <p:cNvSpPr txBox="1"/>
          <p:nvPr/>
        </p:nvSpPr>
        <p:spPr>
          <a:xfrm>
            <a:off x="4447946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With-vs-without replay</a:t>
            </a:r>
          </a:p>
        </p:txBody>
      </p:sp>
      <p:sp>
        <p:nvSpPr>
          <p:cNvPr id="23" name="Card"/>
          <p:cNvSpPr/>
          <p:nvPr/>
        </p:nvSpPr>
        <p:spPr>
          <a:xfrm>
            <a:off x="8036356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creenshot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7796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25" name="Text"/>
          <p:cNvSpPr txBox="1"/>
          <p:nvPr/>
        </p:nvSpPr>
        <p:spPr>
          <a:xfrm>
            <a:off x="8146084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Routing agent trace</a:t>
            </a:r>
          </a:p>
        </p:txBody>
      </p:sp>
      <p:sp>
        <p:nvSpPr>
          <p:cNvPr id="26" name="Chip"/>
          <p:cNvSpPr/>
          <p:nvPr/>
        </p:nvSpPr>
        <p:spPr>
          <a:xfrm>
            <a:off x="640080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Lead time</a:t>
            </a:r>
          </a:p>
        </p:txBody>
      </p:sp>
      <p:sp>
        <p:nvSpPr>
          <p:cNvPr id="27" name="Chip"/>
          <p:cNvSpPr/>
          <p:nvPr/>
        </p:nvSpPr>
        <p:spPr>
          <a:xfrm>
            <a:off x="2476957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Sequencing</a:t>
            </a:r>
          </a:p>
        </p:txBody>
      </p:sp>
      <p:sp>
        <p:nvSpPr>
          <p:cNvPr id="28" name="Chip"/>
          <p:cNvSpPr/>
          <p:nvPr/>
        </p:nvSpPr>
        <p:spPr>
          <a:xfrm>
            <a:off x="4313834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Cop voice</a:t>
            </a:r>
          </a:p>
        </p:txBody>
      </p:sp>
      <p:sp>
        <p:nvSpPr>
          <p:cNvPr id="29" name="Chip"/>
          <p:cNvSpPr/>
          <p:nvPr/>
        </p:nvSpPr>
        <p:spPr>
          <a:xfrm>
            <a:off x="6150711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ATMIST</a:t>
            </a:r>
          </a:p>
        </p:txBody>
      </p:sp>
      <p:sp>
        <p:nvSpPr>
          <p:cNvPr id="30" name="Chip"/>
          <p:cNvSpPr/>
          <p:nvPr/>
        </p:nvSpPr>
        <p:spPr>
          <a:xfrm>
            <a:off x="7987588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After-action</a:t>
            </a:r>
          </a:p>
        </p:txBody>
      </p:sp>
      <p:sp>
        <p:nvSpPr>
          <p:cNvPr id="31" name="Chip"/>
          <p:cNvSpPr/>
          <p:nvPr/>
        </p:nvSpPr>
        <p:spPr>
          <a:xfrm>
            <a:off x="9824466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Eval harness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Process flow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From the crew’s words to the constable’s phone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Process flow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6 / 17</a:t>
            </a:r>
          </a:p>
        </p:txBody>
      </p:sp>
      <p:sp>
        <p:nvSpPr>
          <p:cNvPr id="8" name="Swimlane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822959" y="2075688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00">
                <a:solidFill>
                  <a:srgbClr val="6B7280"/>
                </a:solidFill>
                <a:latin typeface="Arial"/>
                <a:ea typeface="Arial"/>
                <a:cs typeface="Arial"/>
              </a:rPr>
              <a:t>Road</a:t>
            </a:r>
          </a:p>
        </p:txBody>
      </p:sp>
      <p:sp>
        <p:nvSpPr>
          <p:cNvPr id="10" name="Swimlane"/>
          <p:cNvSpPr/>
          <p:nvPr/>
        </p:nvSpPr>
        <p:spPr>
          <a:xfrm>
            <a:off x="640080" y="3977639"/>
            <a:ext cx="10911535" cy="1783080"/>
          </a:xfrm>
          <a:prstGeom prst="roundRect">
            <a:avLst>
              <a:gd name="adj" fmla="val 6153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822959" y="4087368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00">
                <a:solidFill>
                  <a:srgbClr val="6B7280"/>
                </a:solidFill>
                <a:latin typeface="Arial"/>
                <a:ea typeface="Arial"/>
                <a:cs typeface="Arial"/>
              </a:rPr>
              <a:t>Hospital</a:t>
            </a:r>
          </a:p>
        </p:txBody>
      </p:sp>
      <p:sp>
        <p:nvSpPr>
          <p:cNvPr id="12" name="Flow step"/>
          <p:cNvSpPr/>
          <p:nvPr/>
        </p:nvSpPr>
        <p:spPr>
          <a:xfrm>
            <a:off x="822959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1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Crew speaks</a:t>
            </a:r>
          </a:p>
        </p:txBody>
      </p:sp>
      <p:cxnSp>
        <p:nvCxnSpPr>
          <p:cNvPr id="13" name="Connector"/>
          <p:cNvCxnSpPr/>
          <p:nvPr/>
        </p:nvCxnSpPr>
        <p:spPr>
          <a:xfrm>
            <a:off x="2331720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 step"/>
          <p:cNvSpPr/>
          <p:nvPr/>
        </p:nvSpPr>
        <p:spPr>
          <a:xfrm>
            <a:off x="2635849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 extracts</a:t>
            </a:r>
          </a:p>
        </p:txBody>
      </p:sp>
      <p:cxnSp>
        <p:nvCxnSpPr>
          <p:cNvPr id="15" name="Connector"/>
          <p:cNvCxnSpPr/>
          <p:nvPr/>
        </p:nvCxnSpPr>
        <p:spPr>
          <a:xfrm>
            <a:off x="4144609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low step"/>
          <p:cNvSpPr/>
          <p:nvPr/>
        </p:nvSpPr>
        <p:spPr>
          <a:xfrm>
            <a:off x="4448738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Crew confirms tier</a:t>
            </a:r>
          </a:p>
        </p:txBody>
      </p:sp>
      <p:cxnSp>
        <p:nvCxnSpPr>
          <p:cNvPr id="17" name="Connector"/>
          <p:cNvCxnSpPr/>
          <p:nvPr/>
        </p:nvCxnSpPr>
        <p:spPr>
          <a:xfrm>
            <a:off x="5957498" y="2971800"/>
            <a:ext cx="276698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low step"/>
          <p:cNvSpPr/>
          <p:nvPr/>
        </p:nvSpPr>
        <p:spPr>
          <a:xfrm>
            <a:off x="6261628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Queue sizes alert</a:t>
            </a:r>
          </a:p>
        </p:txBody>
      </p:sp>
      <p:cxnSp>
        <p:nvCxnSpPr>
          <p:cNvPr id="19" name="Connector"/>
          <p:cNvCxnSpPr/>
          <p:nvPr/>
        </p:nvCxnSpPr>
        <p:spPr>
          <a:xfrm>
            <a:off x="7770388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low step"/>
          <p:cNvSpPr/>
          <p:nvPr/>
        </p:nvSpPr>
        <p:spPr>
          <a:xfrm>
            <a:off x="8074517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5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Cop hears, ACKs</a:t>
            </a:r>
          </a:p>
        </p:txBody>
      </p:sp>
      <p:cxnSp>
        <p:nvCxnSpPr>
          <p:cNvPr id="21" name="Connector"/>
          <p:cNvCxnSpPr/>
          <p:nvPr/>
        </p:nvCxnSpPr>
        <p:spPr>
          <a:xfrm>
            <a:off x="9583277" y="2971800"/>
            <a:ext cx="276698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low step"/>
          <p:cNvSpPr/>
          <p:nvPr/>
        </p:nvSpPr>
        <p:spPr>
          <a:xfrm>
            <a:off x="9887407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EF3C7"/>
          </a:solidFill>
          <a:ln w="317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6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SignalAdapter (simulated)</a:t>
            </a:r>
          </a:p>
        </p:txBody>
      </p:sp>
      <p:sp>
        <p:nvSpPr>
          <p:cNvPr id="23" name="Flow step"/>
          <p:cNvSpPr/>
          <p:nvPr/>
        </p:nvSpPr>
        <p:spPr>
          <a:xfrm>
            <a:off x="6261628" y="4480559"/>
            <a:ext cx="3294217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91440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7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Hospital brief at ETA−5</a:t>
            </a:r>
          </a:p>
        </p:txBody>
      </p:sp>
      <p:cxnSp>
        <p:nvCxnSpPr>
          <p:cNvPr id="24" name="Connector"/>
          <p:cNvCxnSpPr/>
          <p:nvPr/>
        </p:nvCxnSpPr>
        <p:spPr>
          <a:xfrm>
            <a:off x="5189402" y="3502152"/>
            <a:ext cx="0" cy="1389888"/>
          </a:xfrm>
          <a:prstGeom prst="line">
            <a:avLst/>
          </a:prstGeom>
          <a:ln w="22225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"/>
          <p:cNvCxnSpPr/>
          <p:nvPr/>
        </p:nvCxnSpPr>
        <p:spPr>
          <a:xfrm>
            <a:off x="5189402" y="4892040"/>
            <a:ext cx="1044794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"/>
          <p:cNvSpPr txBox="1"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Amber seam: simulated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Wireframes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Real screens from the running prototype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Wireframes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7 / 17</a:t>
            </a:r>
          </a:p>
        </p:txBody>
      </p:sp>
      <p:sp>
        <p:nvSpPr>
          <p:cNvPr id="8" name="Phone frame"/>
          <p:cNvSpPr/>
          <p:nvPr/>
        </p:nvSpPr>
        <p:spPr>
          <a:xfrm>
            <a:off x="914400" y="2011679"/>
            <a:ext cx="1725117" cy="3520440"/>
          </a:xfrm>
          <a:prstGeom prst="roundRect">
            <a:avLst>
              <a:gd name="adj" fmla="val 1378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03120"/>
            <a:ext cx="1542237" cy="333756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548640" y="5696712"/>
            <a:ext cx="245663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Voice triage</a:t>
            </a:r>
          </a:p>
        </p:txBody>
      </p:sp>
      <p:sp>
        <p:nvSpPr>
          <p:cNvPr id="11" name="Phone frame"/>
          <p:cNvSpPr/>
          <p:nvPr/>
        </p:nvSpPr>
        <p:spPr>
          <a:xfrm>
            <a:off x="3279597" y="2011679"/>
            <a:ext cx="1725117" cy="3520440"/>
          </a:xfrm>
          <a:prstGeom prst="roundRect">
            <a:avLst>
              <a:gd name="adj" fmla="val 1378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037" y="2103120"/>
            <a:ext cx="1542237" cy="3337560"/>
          </a:xfrm>
          <a:prstGeom prst="rect">
            <a:avLst/>
          </a:prstGeom>
        </p:spPr>
      </p:pic>
      <p:sp>
        <p:nvSpPr>
          <p:cNvPr id="13" name="Text"/>
          <p:cNvSpPr txBox="1"/>
          <p:nvPr/>
        </p:nvSpPr>
        <p:spPr>
          <a:xfrm>
            <a:off x="2913837" y="5696712"/>
            <a:ext cx="245663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PREPARE alert</a:t>
            </a:r>
          </a:p>
        </p:txBody>
      </p:sp>
      <p:sp>
        <p:nvSpPr>
          <p:cNvPr id="14" name="Laptop frame"/>
          <p:cNvSpPr/>
          <p:nvPr/>
        </p:nvSpPr>
        <p:spPr>
          <a:xfrm>
            <a:off x="5644794" y="2139753"/>
            <a:ext cx="5632500" cy="3264293"/>
          </a:xfrm>
          <a:prstGeom prst="roundRect">
            <a:avLst>
              <a:gd name="adj" fmla="val 336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522" y="2249481"/>
            <a:ext cx="5413044" cy="3044837"/>
          </a:xfrm>
          <a:prstGeom prst="rect">
            <a:avLst/>
          </a:prstGeom>
        </p:spPr>
      </p:pic>
      <p:sp>
        <p:nvSpPr>
          <p:cNvPr id="16" name="Laptop base"/>
          <p:cNvSpPr/>
          <p:nvPr/>
        </p:nvSpPr>
        <p:spPr>
          <a:xfrm>
            <a:off x="5416194" y="5404046"/>
            <a:ext cx="6089700" cy="109728"/>
          </a:xfrm>
          <a:prstGeom prst="roundRect">
            <a:avLst>
              <a:gd name="adj" fmla="val 50000"/>
            </a:avLst>
          </a:prstGeom>
          <a:solidFill>
            <a:srgbClr val="3A3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5279034" y="5696712"/>
            <a:ext cx="63640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Hospital handover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40080" y="608076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Live rehearsal captures; synthetic patients.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Rules decide; Google Cloud services extract and explain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Architecture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8 / 17</a:t>
            </a:r>
          </a:p>
        </p:txBody>
      </p:sp>
      <p:pic>
        <p:nvPicPr>
          <p:cNvPr id="8" name="Figure architecture" descr="gc-architecture-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812" y="1920240"/>
            <a:ext cx="8894069" cy="3931920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Rules engine on Cloud Run, Firestore event bus; the amber SignalAdapter seam is where a real controller plugs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Technologies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(Google Cloud)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 Google Cloud stack, from model to delivery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Technologies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9 / 17</a:t>
            </a:r>
          </a:p>
        </p:txBody>
      </p:sp>
      <p:sp>
        <p:nvSpPr>
          <p:cNvPr id="8" name="Marker"/>
          <p:cNvSpPr/>
          <p:nvPr/>
        </p:nvSpPr>
        <p:spPr>
          <a:xfrm>
            <a:off x="640080" y="2221991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1051560" y="2011679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&amp; language</a:t>
            </a:r>
          </a:p>
        </p:txBody>
      </p:sp>
      <p:sp>
        <p:nvSpPr>
          <p:cNvPr id="10" name="Pill"/>
          <p:cNvSpPr/>
          <p:nvPr/>
        </p:nvSpPr>
        <p:spPr>
          <a:xfrm>
            <a:off x="3017520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 on Vertex AI</a:t>
            </a:r>
          </a:p>
        </p:txBody>
      </p:sp>
      <p:sp>
        <p:nvSpPr>
          <p:cNvPr id="11" name="Pill"/>
          <p:cNvSpPr/>
          <p:nvPr/>
        </p:nvSpPr>
        <p:spPr>
          <a:xfrm>
            <a:off x="5923178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Google ADK</a:t>
            </a:r>
          </a:p>
        </p:txBody>
      </p:sp>
      <p:sp>
        <p:nvSpPr>
          <p:cNvPr id="12" name="Pill"/>
          <p:cNvSpPr/>
          <p:nvPr/>
        </p:nvSpPr>
        <p:spPr>
          <a:xfrm>
            <a:off x="8828836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Translation</a:t>
            </a:r>
          </a:p>
        </p:txBody>
      </p:sp>
      <p:sp>
        <p:nvSpPr>
          <p:cNvPr id="13" name="Marker"/>
          <p:cNvSpPr/>
          <p:nvPr/>
        </p:nvSpPr>
        <p:spPr>
          <a:xfrm>
            <a:off x="640080" y="3026663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"/>
          <p:cNvSpPr txBox="1"/>
          <p:nvPr/>
        </p:nvSpPr>
        <p:spPr>
          <a:xfrm>
            <a:off x="1051560" y="2816351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Maps &amp; speech</a:t>
            </a:r>
          </a:p>
        </p:txBody>
      </p:sp>
      <p:sp>
        <p:nvSpPr>
          <p:cNvPr id="15" name="Pill"/>
          <p:cNvSpPr/>
          <p:nvPr/>
        </p:nvSpPr>
        <p:spPr>
          <a:xfrm>
            <a:off x="3017520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Routes API</a:t>
            </a:r>
          </a:p>
        </p:txBody>
      </p:sp>
      <p:sp>
        <p:nvSpPr>
          <p:cNvPr id="16" name="Pill"/>
          <p:cNvSpPr/>
          <p:nvPr/>
        </p:nvSpPr>
        <p:spPr>
          <a:xfrm>
            <a:off x="5923178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Text-to-Speech</a:t>
            </a:r>
          </a:p>
        </p:txBody>
      </p:sp>
      <p:sp>
        <p:nvSpPr>
          <p:cNvPr id="17" name="Pill"/>
          <p:cNvSpPr/>
          <p:nvPr/>
        </p:nvSpPr>
        <p:spPr>
          <a:xfrm>
            <a:off x="8828836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Storage</a:t>
            </a:r>
          </a:p>
        </p:txBody>
      </p:sp>
      <p:sp>
        <p:nvSpPr>
          <p:cNvPr id="18" name="Marker"/>
          <p:cNvSpPr/>
          <p:nvPr/>
        </p:nvSpPr>
        <p:spPr>
          <a:xfrm>
            <a:off x="640080" y="3831336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1051560" y="3621024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Run &amp; data</a:t>
            </a:r>
          </a:p>
        </p:txBody>
      </p:sp>
      <p:sp>
        <p:nvSpPr>
          <p:cNvPr id="20" name="Pill"/>
          <p:cNvSpPr/>
          <p:nvPr/>
        </p:nvSpPr>
        <p:spPr>
          <a:xfrm>
            <a:off x="3017520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Run</a:t>
            </a:r>
          </a:p>
        </p:txBody>
      </p:sp>
      <p:sp>
        <p:nvSpPr>
          <p:cNvPr id="21" name="Pill"/>
          <p:cNvSpPr/>
          <p:nvPr/>
        </p:nvSpPr>
        <p:spPr>
          <a:xfrm>
            <a:off x="5923178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Firestore</a:t>
            </a:r>
          </a:p>
        </p:txBody>
      </p:sp>
      <p:sp>
        <p:nvSpPr>
          <p:cNvPr id="22" name="Pill"/>
          <p:cNvSpPr/>
          <p:nvPr/>
        </p:nvSpPr>
        <p:spPr>
          <a:xfrm>
            <a:off x="8828836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BigQuery</a:t>
            </a:r>
          </a:p>
        </p:txBody>
      </p:sp>
      <p:sp>
        <p:nvSpPr>
          <p:cNvPr id="23" name="Marker"/>
          <p:cNvSpPr/>
          <p:nvPr/>
        </p:nvSpPr>
        <p:spPr>
          <a:xfrm>
            <a:off x="640080" y="4636008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1051560" y="4425696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25" name="Pill"/>
          <p:cNvSpPr/>
          <p:nvPr/>
        </p:nvSpPr>
        <p:spPr>
          <a:xfrm>
            <a:off x="3017520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Firebase Hosting</a:t>
            </a:r>
          </a:p>
        </p:txBody>
      </p:sp>
      <p:sp>
        <p:nvSpPr>
          <p:cNvPr id="26" name="Pill"/>
          <p:cNvSpPr/>
          <p:nvPr/>
        </p:nvSpPr>
        <p:spPr>
          <a:xfrm>
            <a:off x="5923178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Build</a:t>
            </a:r>
          </a:p>
        </p:txBody>
      </p:sp>
      <p:sp>
        <p:nvSpPr>
          <p:cNvPr id="27" name="Pill"/>
          <p:cNvSpPr/>
          <p:nvPr/>
        </p:nvSpPr>
        <p:spPr>
          <a:xfrm>
            <a:off x="8828836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Secret Manager</a:t>
            </a:r>
          </a:p>
        </p:txBody>
      </p:sp>
      <p:sp>
        <p:nvSpPr>
          <p:cNvPr id="28" name="BigQuery ML note"/>
          <p:cNvSpPr/>
          <p:nvPr/>
        </p:nvSpPr>
        <p:spPr>
          <a:xfrm>
            <a:off x="640080" y="5321807"/>
            <a:ext cx="10911535" cy="640080"/>
          </a:xfrm>
          <a:prstGeom prst="roundRect">
            <a:avLst>
              <a:gd name="adj" fmla="val 14285"/>
            </a:avLst>
          </a:prstGeom>
          <a:solidFill>
            <a:srgbClr val="F5F6F7"/>
          </a:solidFill>
          <a:ln w="952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rIns="182880" bIns="0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BigQuery ML  </a:t>
            </a: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pipeline in place; peak-hour spans logging on Cloud Scheduler since 6 Oct; model retrained before submission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Estimated implementation cost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About ₹155 per vehicle-hour, almost all of it Routes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Estimated implementation cost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10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≈ ₹155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per vehicle-hour (estimate)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≈ ₹50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per 20-min run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≈ ₹5,000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city-month at 100 runs (illustrative)</a:t>
            </a:r>
          </a:p>
        </p:txBody>
      </p:sp>
      <p:sp>
        <p:nvSpPr>
          <p:cNvPr id="11" name="Cost cell"/>
          <p:cNvSpPr txBox="1"/>
          <p:nvPr/>
        </p:nvSpPr>
        <p:spPr>
          <a:xfrm>
            <a:off x="731519" y="4023360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Routes</a:t>
            </a:r>
          </a:p>
        </p:txBody>
      </p:sp>
      <p:sp>
        <p:nvSpPr>
          <p:cNvPr id="12" name="Cost cell"/>
          <p:cNvSpPr txBox="1"/>
          <p:nvPr/>
        </p:nvSpPr>
        <p:spPr>
          <a:xfrm>
            <a:off x="3108960" y="4023360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3/min × 60 × ₹0.85</a:t>
            </a:r>
          </a:p>
        </p:txBody>
      </p:sp>
      <p:sp>
        <p:nvSpPr>
          <p:cNvPr id="13" name="Cost cell"/>
          <p:cNvSpPr txBox="1"/>
          <p:nvPr/>
        </p:nvSpPr>
        <p:spPr>
          <a:xfrm>
            <a:off x="6400800" y="4023360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₹153</a:t>
            </a:r>
          </a:p>
        </p:txBody>
      </p:sp>
      <p:cxnSp>
        <p:nvCxnSpPr>
          <p:cNvPr id="14" name="Connector"/>
          <p:cNvCxnSpPr/>
          <p:nvPr/>
        </p:nvCxnSpPr>
        <p:spPr>
          <a:xfrm>
            <a:off x="640080" y="4590288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st cell"/>
          <p:cNvSpPr txBox="1"/>
          <p:nvPr/>
        </p:nvSpPr>
        <p:spPr>
          <a:xfrm>
            <a:off x="731519" y="4590288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16" name="Cost cell"/>
          <p:cNvSpPr txBox="1"/>
          <p:nvPr/>
        </p:nvSpPr>
        <p:spPr>
          <a:xfrm>
            <a:off x="3108960" y="4590288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 × ₹0.02</a:t>
            </a:r>
          </a:p>
        </p:txBody>
      </p:sp>
      <p:sp>
        <p:nvSpPr>
          <p:cNvPr id="17" name="Cost cell"/>
          <p:cNvSpPr txBox="1"/>
          <p:nvPr/>
        </p:nvSpPr>
        <p:spPr>
          <a:xfrm>
            <a:off x="6400800" y="4590288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₹0.34</a:t>
            </a:r>
          </a:p>
        </p:txBody>
      </p:sp>
      <p:cxnSp>
        <p:nvCxnSpPr>
          <p:cNvPr id="18" name="Connector"/>
          <p:cNvCxnSpPr/>
          <p:nvPr/>
        </p:nvCxnSpPr>
        <p:spPr>
          <a:xfrm>
            <a:off x="640080" y="5157216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ost cell"/>
          <p:cNvSpPr txBox="1"/>
          <p:nvPr/>
        </p:nvSpPr>
        <p:spPr>
          <a:xfrm>
            <a:off x="731519" y="5157216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Text-to-Speech</a:t>
            </a:r>
          </a:p>
        </p:txBody>
      </p:sp>
      <p:sp>
        <p:nvSpPr>
          <p:cNvPr id="20" name="Cost cell"/>
          <p:cNvSpPr txBox="1"/>
          <p:nvPr/>
        </p:nvSpPr>
        <p:spPr>
          <a:xfrm>
            <a:off x="3108960" y="5157216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1" name="Cost cell"/>
          <p:cNvSpPr txBox="1"/>
          <p:nvPr/>
        </p:nvSpPr>
        <p:spPr>
          <a:xfrm>
            <a:off x="6400800" y="515721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₹1.30</a:t>
            </a:r>
          </a:p>
        </p:txBody>
      </p:sp>
      <p:cxnSp>
        <p:nvCxnSpPr>
          <p:cNvPr id="22" name="Connector"/>
          <p:cNvCxnSpPr/>
          <p:nvPr/>
        </p:nvCxnSpPr>
        <p:spPr>
          <a:xfrm>
            <a:off x="640080" y="5724144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Lever"/>
          <p:cNvSpPr/>
          <p:nvPr/>
        </p:nvSpPr>
        <p:spPr>
          <a:xfrm>
            <a:off x="8138160" y="4023360"/>
            <a:ext cx="3413455" cy="1700784"/>
          </a:xfrm>
          <a:prstGeom prst="roundRect">
            <a:avLst>
              <a:gd name="adj" fmla="val 6451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 bIns="9144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Lever: cache Routes beyond today's 20 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Snapshots of the prototype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The loop, mid-run, from the live rehearsal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Snapshots of the prototype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11 / 17</a:t>
            </a:r>
          </a:p>
        </p:txBody>
      </p:sp>
      <p:pic>
        <p:nvPicPr>
          <p:cNvPr id="8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79"/>
            <a:ext cx="6035040" cy="338328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9" name="Text"/>
          <p:cNvSpPr txBox="1"/>
          <p:nvPr/>
        </p:nvSpPr>
        <p:spPr>
          <a:xfrm>
            <a:off x="640080" y="5486400"/>
            <a:ext cx="603504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Replay simulator</a:t>
            </a:r>
          </a:p>
        </p:txBody>
      </p:sp>
      <p:pic>
        <p:nvPicPr>
          <p:cNvPr id="10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011679"/>
            <a:ext cx="4510735" cy="14630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1" name="Text"/>
          <p:cNvSpPr txBox="1"/>
          <p:nvPr/>
        </p:nvSpPr>
        <p:spPr>
          <a:xfrm>
            <a:off x="7040880" y="3566160"/>
            <a:ext cx="45107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Control room</a:t>
            </a:r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3977639"/>
            <a:ext cx="4510735" cy="141732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3" name="Text"/>
          <p:cNvSpPr txBox="1"/>
          <p:nvPr/>
        </p:nvSpPr>
        <p:spPr>
          <a:xfrm>
            <a:off x="7040880" y="5486400"/>
            <a:ext cx="45107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STOP alert, spoken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Snapshots of the prototype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(routing agent)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Live routing trace: Jayadeva chosen, two alternatives rejected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Snapshots of the prototype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12 / 17</a:t>
            </a:r>
          </a:p>
        </p:txBody>
      </p:sp>
      <p:sp>
        <p:nvSpPr>
          <p:cNvPr id="8" name="Figure trace"/>
          <p:cNvSpPr/>
          <p:nvPr/>
        </p:nvSpPr>
        <p:spPr>
          <a:xfrm>
            <a:off x="640080" y="2057400"/>
            <a:ext cx="6035040" cy="3566160"/>
          </a:xfrm>
          <a:prstGeom prst="roundRect">
            <a:avLst>
              <a:gd name="adj" fmla="val 3589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28600" bIns="182880"/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1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required_capabilities(critical) -&gt; cath_lab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2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list_hospitals(blr) -&gt; 3 hospitals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3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check_diversion(Jayadeva) -&gt; accepting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4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check_diversion(Apollo) -&gt; on diversion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5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eta_to(Jayadeva) -&gt; 373 s, 2.6 km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6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Added to baseline: icu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Destination Jayadeva, confidence 1.0</a:t>
            </a:r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57400"/>
            <a:ext cx="4602175" cy="310896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0" name="Text"/>
          <p:cNvSpPr txBox="1"/>
          <p:nvPr/>
        </p:nvSpPr>
        <p:spPr>
          <a:xfrm>
            <a:off x="6949440" y="5303520"/>
            <a:ext cx="4602175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The trace as shown in /vehicle.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Performance report / benchmarking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Synthetic-voice results, scripted-run timings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Performance report / benchmarking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13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90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field accuracy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100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tier accuracy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3.5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mean extraction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40080" y="3886200"/>
            <a:ext cx="10911535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12 synthetic clips, 11 scored for tier, 1 intervention note; not field recordings. Before the fix: 87 % / 73 %.</a:t>
            </a:r>
          </a:p>
        </p:txBody>
      </p:sp>
      <p:sp>
        <p:nvSpPr>
          <p:cNvPr id="12" name="Stat tile"/>
          <p:cNvSpPr/>
          <p:nvPr/>
        </p:nvSpPr>
        <p:spPr>
          <a:xfrm>
            <a:off x="640080" y="4389120"/>
            <a:ext cx="5120640" cy="1645920"/>
          </a:xfrm>
          <a:prstGeom prst="roundRect">
            <a:avLst>
              <a:gd name="adj" fmla="val 777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17 / 37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/location p50 / p95, offline</a:t>
            </a:r>
          </a:p>
        </p:txBody>
      </p:sp>
      <p:sp>
        <p:nvSpPr>
          <p:cNvPr id="13" name="Stat tile"/>
          <p:cNvSpPr/>
          <p:nvPr/>
        </p:nvSpPr>
        <p:spPr>
          <a:xfrm>
            <a:off x="6035040" y="4389120"/>
            <a:ext cx="5516575" cy="1645920"/>
          </a:xfrm>
          <a:prstGeom prst="roundRect">
            <a:avLst>
              <a:gd name="adj" fmla="val 777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182880" bIns="91440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412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Python · </a:t>
            </a: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161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web tests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98 %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coverage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Additional details / future development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From constable to controller, in three steps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Additional details / future development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14 / 17</a:t>
            </a:r>
          </a:p>
        </p:txBody>
      </p:sp>
      <p:sp>
        <p:nvSpPr>
          <p:cNvPr id="8" name="Roadmap step"/>
          <p:cNvSpPr/>
          <p:nvPr/>
        </p:nvSpPr>
        <p:spPr>
          <a:xfrm>
            <a:off x="640080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14171B"/>
          </a:solidFill>
          <a:ln>
            <a:noFill/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Today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Constable alerts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Spoken alert, one ACK.</a:t>
            </a:r>
          </a:p>
        </p:txBody>
      </p:sp>
      <p:cxnSp>
        <p:nvCxnSpPr>
          <p:cNvPr id="9" name="Connector"/>
          <p:cNvCxnSpPr/>
          <p:nvPr/>
        </p:nvCxnSpPr>
        <p:spPr>
          <a:xfrm>
            <a:off x="3813048" y="3383280"/>
            <a:ext cx="641451" cy="0"/>
          </a:xfrm>
          <a:prstGeom prst="line">
            <a:avLst/>
          </a:prstGeom>
          <a:ln w="28575">
            <a:solidFill>
              <a:srgbClr val="B45309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admap step"/>
          <p:cNvSpPr/>
          <p:nvPr/>
        </p:nvSpPr>
        <p:spPr>
          <a:xfrm>
            <a:off x="4564227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Phase 2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 controllers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Constables no longer clear queues by hand.</a:t>
            </a:r>
          </a:p>
        </p:txBody>
      </p:sp>
      <p:cxnSp>
        <p:nvCxnSpPr>
          <p:cNvPr id="11" name="Connector"/>
          <p:cNvCxnSpPr/>
          <p:nvPr/>
        </p:nvCxnSpPr>
        <p:spPr>
          <a:xfrm>
            <a:off x="7737195" y="3383280"/>
            <a:ext cx="641452" cy="0"/>
          </a:xfrm>
          <a:prstGeom prst="line">
            <a:avLst/>
          </a:prstGeom>
          <a:ln w="28575">
            <a:solidFill>
              <a:srgbClr val="B45309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admap step"/>
          <p:cNvSpPr/>
          <p:nvPr/>
        </p:nvSpPr>
        <p:spPr>
          <a:xfrm>
            <a:off x="8488375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Phase 3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Learning controller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Peak-hour spans already logged.</a:t>
            </a:r>
          </a:p>
        </p:txBody>
      </p:sp>
      <p:sp>
        <p:nvSpPr>
          <p:cNvPr id="13" name="Limits"/>
          <p:cNvSpPr/>
          <p:nvPr/>
        </p:nvSpPr>
        <p:spPr>
          <a:xfrm>
            <a:off x="640080" y="4663440"/>
            <a:ext cx="10911535" cy="1005840"/>
          </a:xfrm>
          <a:prstGeom prst="roundRect">
            <a:avLst>
              <a:gd name="adj" fmla="val 10909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91440" rIns="320040" bIns="91440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Signals simulated, patients synthetic, minutes saved estimated.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Sustainability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We size the green to the queue, so cross-traffic idling is bounded by the clearance time.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Sustainability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15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2743200"/>
          </a:xfrm>
          <a:prstGeom prst="roundRect">
            <a:avLst>
              <a:gd name="adj" fmla="val 4666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0.25</a:t>
            </a: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 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idling fuel avoided per cleared queue (illustration: 20 vehicles × 60 s × 0.76 L/h)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2743200"/>
          </a:xfrm>
          <a:prstGeom prst="roundRect">
            <a:avLst>
              <a:gd name="adj" fmla="val 4666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2.35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kg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CO₂ per litre of petrol (EPA)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2743200"/>
          </a:xfrm>
          <a:prstGeom prst="roundRect">
            <a:avLst>
              <a:gd name="adj" fmla="val 4666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SDG 3.8 · 11.2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emergency care access · sustainable transport</a:t>
            </a:r>
          </a:p>
        </p:txBody>
      </p:sp>
      <p:sp>
        <p:nvSpPr>
          <p:cNvPr id="11" name="Figure citation"/>
          <p:cNvSpPr txBox="1"/>
          <p:nvPr/>
        </p:nvSpPr>
        <p:spPr>
          <a:xfrm>
            <a:off x="640080" y="5074920"/>
            <a:ext cx="10911535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Idle burn: Argonne National Laboratory (Gaines, Rask, Keller), US DOE, 2014. CO₂: US EPA, GHG Equivalencies Calculator, 2024. The per-queue arithmetic is an illustration, not a measurement or a net saving.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Links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Try it, read the code, watch the demo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Links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16 / 17</a:t>
            </a:r>
          </a:p>
        </p:txBody>
      </p:sp>
      <p:sp>
        <p:nvSpPr>
          <p:cNvPr id="8" name="Link tile"/>
          <p:cNvSpPr/>
          <p:nvPr/>
        </p:nvSpPr>
        <p:spPr>
          <a:xfrm>
            <a:off x="640080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914400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GitHub Public Repository</a:t>
            </a:r>
          </a:p>
        </p:txBody>
      </p:sp>
      <p:pic>
        <p:nvPicPr>
          <p:cNvPr id="10" name="QR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11" y="2697480"/>
            <a:ext cx="2011680" cy="2011680"/>
          </a:xfrm>
          <a:prstGeom prst="rect">
            <a:avLst/>
          </a:prstGeom>
        </p:spPr>
      </p:pic>
      <p:sp>
        <p:nvSpPr>
          <p:cNvPr id="11" name="Text"/>
          <p:cNvSpPr txBox="1"/>
          <p:nvPr/>
        </p:nvSpPr>
        <p:spPr>
          <a:xfrm>
            <a:off x="777240" y="4983479"/>
            <a:ext cx="2247823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github.com/Nandish3010/ideal-disco</a:t>
            </a:r>
          </a:p>
        </p:txBody>
      </p:sp>
      <p:sp>
        <p:nvSpPr>
          <p:cNvPr id="12" name="Link tile"/>
          <p:cNvSpPr/>
          <p:nvPr/>
        </p:nvSpPr>
        <p:spPr>
          <a:xfrm>
            <a:off x="3436543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710863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Demo Video (3 minutes)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3710863" y="3246120"/>
            <a:ext cx="1973503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  <a:ea typeface="Arial"/>
                <a:cs typeface="Arial"/>
              </a:rPr>
              <a:t>[link + QR at submission]</a:t>
            </a:r>
          </a:p>
        </p:txBody>
      </p:sp>
      <p:sp>
        <p:nvSpPr>
          <p:cNvPr id="15" name="Link tile"/>
          <p:cNvSpPr/>
          <p:nvPr/>
        </p:nvSpPr>
        <p:spPr>
          <a:xfrm>
            <a:off x="6233007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 txBox="1"/>
          <p:nvPr/>
        </p:nvSpPr>
        <p:spPr>
          <a:xfrm>
            <a:off x="6507327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Final Product</a:t>
            </a:r>
          </a:p>
        </p:txBody>
      </p:sp>
      <p:pic>
        <p:nvPicPr>
          <p:cNvPr id="17" name="QR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8239" y="2697480"/>
            <a:ext cx="2011680" cy="2011680"/>
          </a:xfrm>
          <a:prstGeom prst="rect">
            <a:avLst/>
          </a:prstGeom>
        </p:spPr>
      </p:pic>
      <p:sp>
        <p:nvSpPr>
          <p:cNvPr id="18" name="Text"/>
          <p:cNvSpPr txBox="1"/>
          <p:nvPr/>
        </p:nvSpPr>
        <p:spPr>
          <a:xfrm>
            <a:off x="6370167" y="4983479"/>
            <a:ext cx="2247823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green-corridor-2026.web.app</a:t>
            </a:r>
          </a:p>
        </p:txBody>
      </p:sp>
      <p:sp>
        <p:nvSpPr>
          <p:cNvPr id="19" name="Link tile"/>
          <p:cNvSpPr/>
          <p:nvPr/>
        </p:nvSpPr>
        <p:spPr>
          <a:xfrm>
            <a:off x="9029471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 txBox="1"/>
          <p:nvPr/>
        </p:nvSpPr>
        <p:spPr>
          <a:xfrm>
            <a:off x="9303791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Submission deck</a:t>
            </a:r>
          </a:p>
        </p:txBody>
      </p:sp>
      <p:pic>
        <p:nvPicPr>
          <p:cNvPr id="21" name="QR" descr="imag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4703" y="2697480"/>
            <a:ext cx="2011680" cy="2011680"/>
          </a:xfrm>
          <a:prstGeom prst="rect">
            <a:avLst/>
          </a:prstGeom>
        </p:spPr>
      </p:pic>
      <p:sp>
        <p:nvSpPr>
          <p:cNvPr id="22" name="Text"/>
          <p:cNvSpPr txBox="1"/>
          <p:nvPr/>
        </p:nvSpPr>
        <p:spPr>
          <a:xfrm>
            <a:off x="9166631" y="4983479"/>
            <a:ext cx="2247823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green-corridor-2026.web.app/deck.pdf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eyebrow"/>
          <p:cNvSpPr txBox="1"/>
          <p:nvPr/>
        </p:nvSpPr>
        <p:spPr>
          <a:xfrm>
            <a:off x="640080" y="1920240"/>
            <a:ext cx="9144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40">
                <a:solidFill>
                  <a:srgbClr val="F59E0B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40080" y="2377440"/>
            <a:ext cx="822960" cy="0"/>
          </a:xfrm>
          <a:prstGeom prst="line">
            <a:avLst/>
          </a:prstGeom>
          <a:ln w="3810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losing title"/>
          <p:cNvSpPr txBox="1"/>
          <p:nvPr/>
        </p:nvSpPr>
        <p:spPr>
          <a:xfrm>
            <a:off x="640080" y="2651760"/>
            <a:ext cx="10515600" cy="1645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Warn the constable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before the siren arrives.</a:t>
            </a:r>
          </a:p>
        </p:txBody>
      </p:sp>
      <p:sp>
        <p:nvSpPr>
          <p:cNvPr id="5" name="Closing links"/>
          <p:cNvSpPr txBox="1"/>
          <p:nvPr/>
        </p:nvSpPr>
        <p:spPr>
          <a:xfrm>
            <a:off x="640080" y="4480560"/>
            <a:ext cx="100584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59E0B"/>
                </a:solidFill>
                <a:latin typeface="Arial"/>
                <a:ea typeface="Arial"/>
                <a:cs typeface="Arial"/>
              </a:rPr>
              <a:t>Try it: green-corridor-2026.web.app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9E0B"/>
                </a:solidFill>
                <a:latin typeface="Arial"/>
                <a:ea typeface="Arial"/>
                <a:cs typeface="Arial"/>
              </a:rPr>
              <a:t>Read it: github.com/Nandish3010/ideal-disco</a:t>
            </a:r>
          </a:p>
        </p:txBody>
      </p:sp>
      <p:sp>
        <p:nvSpPr>
          <p:cNvPr id="6" name="Closing byline"/>
          <p:cNvSpPr txBox="1"/>
          <p:nvPr/>
        </p:nvSpPr>
        <p:spPr>
          <a:xfrm>
            <a:off x="640080" y="566928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Built by Nandish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Green Corridor · Thank you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Emergency Green Corridor: submission deck</dc:title>
  <dc:subject/>
  <dc:creator>Nandish</dc:creator>
  <cp:keywords/>
  <dc:description>generated using python-pptx</dc:description>
  <cp:lastModifiedBy>Nandish</cp:lastModifiedBy>
  <cp:revision>1</cp:revision>
  <dcterms:created xsi:type="dcterms:W3CDTF">2013-01-27T09:14:16Z</dcterms:created>
  <dcterms:modified xsi:type="dcterms:W3CDTF">2013-01-27T09:15:58Z</dcterms:modified>
  <cp:category/>
</cp:coreProperties>
</file>