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github.com/Nandish3010/ideal-disco" TargetMode="External"/><Relationship Id="rId4" Type="http://schemas.openxmlformats.org/officeDocument/2006/relationships/image" Target="../media/image16.png"/><Relationship Id="rId5" Type="http://schemas.openxmlformats.org/officeDocument/2006/relationships/hyperlink" Target="https://green-corridor-2026.web.app" TargetMode="External"/><Relationship Id="rId6" Type="http://schemas.openxmlformats.org/officeDocument/2006/relationships/image" Target="../media/image17.png"/><Relationship Id="rId7" Type="http://schemas.openxmlformats.org/officeDocument/2006/relationships/hyperlink" Target="https://green-corridor-2026.web.app/deck.pdf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eyebrow"/>
          <p:cNvSpPr txBox="1"/>
          <p:nvPr/>
        </p:nvSpPr>
        <p:spPr>
          <a:xfrm>
            <a:off x="640080" y="1737360"/>
            <a:ext cx="105156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40">
                <a:solidFill>
                  <a:srgbClr val="F59E0B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cxnSp>
        <p:nvCxnSpPr>
          <p:cNvPr id="3" name="Connector"/>
          <p:cNvCxnSpPr/>
          <p:nvPr/>
        </p:nvCxnSpPr>
        <p:spPr>
          <a:xfrm>
            <a:off x="640080" y="2194560"/>
            <a:ext cx="822960" cy="0"/>
          </a:xfrm>
          <a:prstGeom prst="line">
            <a:avLst/>
          </a:prstGeom>
          <a:ln w="3810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over title"/>
          <p:cNvSpPr txBox="1"/>
          <p:nvPr/>
        </p:nvSpPr>
        <p:spPr>
          <a:xfrm>
            <a:off x="640080" y="2514600"/>
            <a:ext cx="5760720" cy="17373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Emergency Green Corridor</a:t>
            </a:r>
          </a:p>
        </p:txBody>
      </p:sp>
      <p:sp>
        <p:nvSpPr>
          <p:cNvPr id="5" name="Cover tagline"/>
          <p:cNvSpPr txBox="1"/>
          <p:nvPr/>
        </p:nvSpPr>
        <p:spPr>
          <a:xfrm>
            <a:off x="640080" y="4343400"/>
            <a:ext cx="54864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Warning the junction constable before the siren arrives.</a:t>
            </a:r>
          </a:p>
        </p:txBody>
      </p:sp>
      <p:sp>
        <p:nvSpPr>
          <p:cNvPr id="6" name="Cover byline"/>
          <p:cNvSpPr txBox="1"/>
          <p:nvPr/>
        </p:nvSpPr>
        <p:spPr>
          <a:xfrm>
            <a:off x="640080" y="5669280"/>
            <a:ext cx="566928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Nandish · green-corridor-2026.web.app</a:t>
            </a:r>
          </a:p>
        </p:txBody>
      </p:sp>
      <p:sp>
        <p:nvSpPr>
          <p:cNvPr id="7" name="Cover stat"/>
          <p:cNvSpPr/>
          <p:nvPr/>
        </p:nvSpPr>
        <p:spPr>
          <a:xfrm>
            <a:off x="6812280" y="2286000"/>
            <a:ext cx="4754880" cy="3017520"/>
          </a:xfrm>
          <a:prstGeom prst="roundRect">
            <a:avLst>
              <a:gd name="adj" fmla="val 484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182880" rIns="320040" bIns="182880"/>
          <a:lstStyle/>
          <a:p>
            <a:pPr algn="l">
              <a:spcAft>
                <a:spcPts val="600"/>
              </a:spcAft>
            </a:pPr>
            <a:r>
              <a:rPr sz="7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60 %+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of Karnataka 108 cardiac, stroke, respiratory calls missed the 10-minute target</a:t>
            </a:r>
          </a:p>
        </p:txBody>
      </p:sp>
      <p:sp>
        <p:nvSpPr>
          <p:cNvPr id="8" name="Cover citation"/>
          <p:cNvSpPr txBox="1"/>
          <p:nvPr/>
        </p:nvSpPr>
        <p:spPr>
          <a:xfrm>
            <a:off x="6812280" y="5440680"/>
            <a:ext cx="475488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Source: CAG audit of Karnataka 108 EMS, 2014–19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Team details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 solo entry, built end to end by one contributor.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Team details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2 / 17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914400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Team name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914400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Green Corridor</a:t>
            </a:r>
          </a:p>
        </p:txBody>
      </p:sp>
      <p:sp>
        <p:nvSpPr>
          <p:cNvPr id="11" name="Card"/>
          <p:cNvSpPr/>
          <p:nvPr/>
        </p:nvSpPr>
        <p:spPr>
          <a:xfrm>
            <a:off x="4338218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"/>
          <p:cNvSpPr txBox="1"/>
          <p:nvPr/>
        </p:nvSpPr>
        <p:spPr>
          <a:xfrm>
            <a:off x="4612538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Team leader</a:t>
            </a:r>
          </a:p>
        </p:txBody>
      </p:sp>
      <p:sp>
        <p:nvSpPr>
          <p:cNvPr id="13" name="Text"/>
          <p:cNvSpPr txBox="1"/>
          <p:nvPr/>
        </p:nvSpPr>
        <p:spPr>
          <a:xfrm>
            <a:off x="4612538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Nandish</a:t>
            </a:r>
          </a:p>
        </p:txBody>
      </p:sp>
      <p:sp>
        <p:nvSpPr>
          <p:cNvPr id="14" name="Card"/>
          <p:cNvSpPr/>
          <p:nvPr/>
        </p:nvSpPr>
        <p:spPr>
          <a:xfrm>
            <a:off x="8036356" y="2057400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"/>
          <p:cNvSpPr txBox="1"/>
          <p:nvPr/>
        </p:nvSpPr>
        <p:spPr>
          <a:xfrm>
            <a:off x="8310676" y="2286000"/>
            <a:ext cx="2966618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Contributors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8310676" y="2743200"/>
            <a:ext cx="2966618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Sole contributor</a:t>
            </a:r>
          </a:p>
        </p:txBody>
      </p:sp>
      <p:sp>
        <p:nvSpPr>
          <p:cNvPr id="17" name="Problem card"/>
          <p:cNvSpPr/>
          <p:nvPr/>
        </p:nvSpPr>
        <p:spPr>
          <a:xfrm>
            <a:off x="640080" y="4114800"/>
            <a:ext cx="10911535" cy="2057400"/>
          </a:xfrm>
          <a:prstGeom prst="roundRect">
            <a:avLst>
              <a:gd name="adj" fmla="val 6222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"/>
          <p:cNvSpPr txBox="1"/>
          <p:nvPr/>
        </p:nvSpPr>
        <p:spPr>
          <a:xfrm>
            <a:off x="1005840" y="4389120"/>
            <a:ext cx="54864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Problem statement</a:t>
            </a:r>
          </a:p>
        </p:txBody>
      </p:sp>
      <p:sp>
        <p:nvSpPr>
          <p:cNvPr id="19" name="Text"/>
          <p:cNvSpPr txBox="1"/>
          <p:nvPr/>
        </p:nvSpPr>
        <p:spPr>
          <a:xfrm>
            <a:off x="1005840" y="4800600"/>
            <a:ext cx="10180015" cy="11887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Sustainability &amp; Social Impact: emergency vehicles stuck at red signals while the junction constable is never told.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Brief about the idea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Warn the junction constable early, sized to the queue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Brief about the idea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3 / 17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≈ 7.9</a:t>
            </a:r>
            <a:r>
              <a:rPr sz="2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 min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saved for the critical ambulance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4 vs 1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warning at a 400 m queue vs a 100 m queue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57400"/>
            <a:ext cx="3515258" cy="3108960"/>
          </a:xfrm>
          <a:prstGeom prst="roundRect">
            <a:avLst>
              <a:gd name="adj" fmla="val 411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60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16.5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min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three-vehicle total, simulated baseline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640080" y="548640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Scripted scenario and synthetic voices, not field results.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Opportunities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(how it differs / how it solves / USP)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Not a fixed radius, and not waiting for new hardware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Opportunities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4 / 17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con"/>
          <p:cNvSpPr/>
          <p:nvPr/>
        </p:nvSpPr>
        <p:spPr>
          <a:xfrm>
            <a:off x="960119" y="2331720"/>
            <a:ext cx="640080" cy="640080"/>
          </a:xfrm>
          <a:prstGeom prst="ellipse">
            <a:avLst/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≠</a:t>
            </a:r>
          </a:p>
        </p:txBody>
      </p:sp>
      <p:sp>
        <p:nvSpPr>
          <p:cNvPr id="10" name="Text"/>
          <p:cNvSpPr txBox="1"/>
          <p:nvPr/>
        </p:nvSpPr>
        <p:spPr>
          <a:xfrm>
            <a:off x="960119" y="315468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B45309"/>
                </a:solidFill>
                <a:latin typeface="Arial"/>
                <a:ea typeface="Arial"/>
                <a:cs typeface="Arial"/>
              </a:rPr>
              <a:t>How it differs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960119" y="3611880"/>
            <a:ext cx="2875178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Warning sized to the queue</a:t>
            </a:r>
          </a:p>
        </p:txBody>
      </p:sp>
      <p:sp>
        <p:nvSpPr>
          <p:cNvPr id="12" name="Versus chip"/>
          <p:cNvSpPr/>
          <p:nvPr/>
        </p:nvSpPr>
        <p:spPr>
          <a:xfrm>
            <a:off x="960119" y="4937760"/>
            <a:ext cx="2875178" cy="411480"/>
          </a:xfrm>
          <a:prstGeom prst="roundRect">
            <a:avLst>
              <a:gd name="adj" fmla="val 48888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vs fixed-radius alerts</a:t>
            </a:r>
          </a:p>
        </p:txBody>
      </p:sp>
      <p:sp>
        <p:nvSpPr>
          <p:cNvPr id="13" name="Card"/>
          <p:cNvSpPr/>
          <p:nvPr/>
        </p:nvSpPr>
        <p:spPr>
          <a:xfrm>
            <a:off x="4338218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con"/>
          <p:cNvSpPr/>
          <p:nvPr/>
        </p:nvSpPr>
        <p:spPr>
          <a:xfrm>
            <a:off x="4658258" y="2331720"/>
            <a:ext cx="640080" cy="640080"/>
          </a:xfrm>
          <a:prstGeom prst="ellipse">
            <a:avLst/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✓</a:t>
            </a:r>
          </a:p>
        </p:txBody>
      </p:sp>
      <p:sp>
        <p:nvSpPr>
          <p:cNvPr id="15" name="Text"/>
          <p:cNvSpPr txBox="1"/>
          <p:nvPr/>
        </p:nvSpPr>
        <p:spPr>
          <a:xfrm>
            <a:off x="4658258" y="315468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B45309"/>
                </a:solidFill>
                <a:latin typeface="Arial"/>
                <a:ea typeface="Arial"/>
                <a:cs typeface="Arial"/>
              </a:rPr>
              <a:t>How it solves</a:t>
            </a:r>
          </a:p>
        </p:txBody>
      </p:sp>
      <p:sp>
        <p:nvSpPr>
          <p:cNvPr id="16" name="Text"/>
          <p:cNvSpPr txBox="1"/>
          <p:nvPr/>
        </p:nvSpPr>
        <p:spPr>
          <a:xfrm>
            <a:off x="4658258" y="3611880"/>
            <a:ext cx="2875178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Queue cleared before the siren</a:t>
            </a:r>
          </a:p>
        </p:txBody>
      </p:sp>
      <p:sp>
        <p:nvSpPr>
          <p:cNvPr id="17" name="Versus chip"/>
          <p:cNvSpPr/>
          <p:nvPr/>
        </p:nvSpPr>
        <p:spPr>
          <a:xfrm>
            <a:off x="4658258" y="4937760"/>
            <a:ext cx="2875178" cy="411480"/>
          </a:xfrm>
          <a:prstGeom prst="roundRect">
            <a:avLst>
              <a:gd name="adj" fmla="val 48888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vs manual green corridors</a:t>
            </a:r>
          </a:p>
        </p:txBody>
      </p:sp>
      <p:sp>
        <p:nvSpPr>
          <p:cNvPr id="18" name="Card"/>
          <p:cNvSpPr/>
          <p:nvPr/>
        </p:nvSpPr>
        <p:spPr>
          <a:xfrm>
            <a:off x="8036356" y="2057400"/>
            <a:ext cx="3515258" cy="3657600"/>
          </a:xfrm>
          <a:prstGeom prst="roundRect">
            <a:avLst>
              <a:gd name="adj" fmla="val 3641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con"/>
          <p:cNvSpPr/>
          <p:nvPr/>
        </p:nvSpPr>
        <p:spPr>
          <a:xfrm>
            <a:off x="8356396" y="2331720"/>
            <a:ext cx="640080" cy="64008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★</a:t>
            </a:r>
          </a:p>
        </p:txBody>
      </p:sp>
      <p:sp>
        <p:nvSpPr>
          <p:cNvPr id="20" name="Text"/>
          <p:cNvSpPr txBox="1"/>
          <p:nvPr/>
        </p:nvSpPr>
        <p:spPr>
          <a:xfrm>
            <a:off x="8356396" y="3154680"/>
            <a:ext cx="2875178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cap="all" spc="80">
                <a:solidFill>
                  <a:srgbClr val="F59E0B"/>
                </a:solidFill>
                <a:latin typeface="Arial"/>
                <a:ea typeface="Arial"/>
                <a:cs typeface="Arial"/>
              </a:rPr>
              <a:t>USP</a:t>
            </a:r>
          </a:p>
        </p:txBody>
      </p:sp>
      <p:sp>
        <p:nvSpPr>
          <p:cNvPr id="21" name="Text"/>
          <p:cNvSpPr txBox="1"/>
          <p:nvPr/>
        </p:nvSpPr>
        <p:spPr>
          <a:xfrm>
            <a:off x="8356396" y="3611880"/>
            <a:ext cx="2875178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Rules decide, Gemini explains; no hardware</a:t>
            </a:r>
          </a:p>
        </p:txBody>
      </p:sp>
      <p:sp>
        <p:nvSpPr>
          <p:cNvPr id="22" name="Versus chip"/>
          <p:cNvSpPr/>
          <p:nvPr/>
        </p:nvSpPr>
        <p:spPr>
          <a:xfrm>
            <a:off x="8356396" y="4937760"/>
            <a:ext cx="2875178" cy="411480"/>
          </a:xfrm>
          <a:prstGeom prst="roundRect">
            <a:avLst>
              <a:gd name="adj" fmla="val 48888"/>
            </a:avLst>
          </a:prstGeom>
          <a:solidFill>
            <a:srgbClr val="2A2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0" bIns="0"/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vs IR/GPS preemption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List of features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Six screens and the engines behind them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List of features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5 / 17</a:t>
            </a:r>
          </a:p>
        </p:txBody>
      </p:sp>
      <p:sp>
        <p:nvSpPr>
          <p:cNvPr id="8" name="Card"/>
          <p:cNvSpPr/>
          <p:nvPr/>
        </p:nvSpPr>
        <p:spPr>
          <a:xfrm>
            <a:off x="640080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19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0" name="Text"/>
          <p:cNvSpPr txBox="1"/>
          <p:nvPr/>
        </p:nvSpPr>
        <p:spPr>
          <a:xfrm>
            <a:off x="749808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Voice triage</a:t>
            </a:r>
          </a:p>
        </p:txBody>
      </p:sp>
      <p:sp>
        <p:nvSpPr>
          <p:cNvPr id="11" name="Card"/>
          <p:cNvSpPr/>
          <p:nvPr/>
        </p:nvSpPr>
        <p:spPr>
          <a:xfrm>
            <a:off x="4338218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9658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3" name="Text"/>
          <p:cNvSpPr txBox="1"/>
          <p:nvPr/>
        </p:nvSpPr>
        <p:spPr>
          <a:xfrm>
            <a:off x="4447946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Spoken cop alert</a:t>
            </a:r>
          </a:p>
        </p:txBody>
      </p:sp>
      <p:sp>
        <p:nvSpPr>
          <p:cNvPr id="14" name="Card"/>
          <p:cNvSpPr/>
          <p:nvPr/>
        </p:nvSpPr>
        <p:spPr>
          <a:xfrm>
            <a:off x="8036356" y="196596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7796" y="2057400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6" name="Text"/>
          <p:cNvSpPr txBox="1"/>
          <p:nvPr/>
        </p:nvSpPr>
        <p:spPr>
          <a:xfrm>
            <a:off x="8146084" y="338328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Hospital live brief</a:t>
            </a:r>
          </a:p>
        </p:txBody>
      </p:sp>
      <p:sp>
        <p:nvSpPr>
          <p:cNvPr id="17" name="Card"/>
          <p:cNvSpPr/>
          <p:nvPr/>
        </p:nvSpPr>
        <p:spPr>
          <a:xfrm>
            <a:off x="640080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Screenshot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19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9" name="Text"/>
          <p:cNvSpPr txBox="1"/>
          <p:nvPr/>
        </p:nvSpPr>
        <p:spPr>
          <a:xfrm>
            <a:off x="749808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 room board</a:t>
            </a:r>
          </a:p>
        </p:txBody>
      </p:sp>
      <p:sp>
        <p:nvSpPr>
          <p:cNvPr id="20" name="Card"/>
          <p:cNvSpPr/>
          <p:nvPr/>
        </p:nvSpPr>
        <p:spPr>
          <a:xfrm>
            <a:off x="4338218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Screenshot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9658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22" name="Text"/>
          <p:cNvSpPr txBox="1"/>
          <p:nvPr/>
        </p:nvSpPr>
        <p:spPr>
          <a:xfrm>
            <a:off x="4447946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With-vs-without replay</a:t>
            </a:r>
          </a:p>
        </p:txBody>
      </p:sp>
      <p:sp>
        <p:nvSpPr>
          <p:cNvPr id="23" name="Card"/>
          <p:cNvSpPr/>
          <p:nvPr/>
        </p:nvSpPr>
        <p:spPr>
          <a:xfrm>
            <a:off x="8036356" y="3886200"/>
            <a:ext cx="3515258" cy="178308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creenshot" descr="image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7796" y="3977639"/>
            <a:ext cx="3332378" cy="12344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25" name="Text"/>
          <p:cNvSpPr txBox="1"/>
          <p:nvPr/>
        </p:nvSpPr>
        <p:spPr>
          <a:xfrm>
            <a:off x="8146084" y="5303520"/>
            <a:ext cx="3295802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Routing agent trace</a:t>
            </a:r>
          </a:p>
        </p:txBody>
      </p:sp>
      <p:sp>
        <p:nvSpPr>
          <p:cNvPr id="26" name="Chip"/>
          <p:cNvSpPr/>
          <p:nvPr/>
        </p:nvSpPr>
        <p:spPr>
          <a:xfrm>
            <a:off x="640080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Lead time</a:t>
            </a:r>
          </a:p>
        </p:txBody>
      </p:sp>
      <p:sp>
        <p:nvSpPr>
          <p:cNvPr id="27" name="Chip"/>
          <p:cNvSpPr/>
          <p:nvPr/>
        </p:nvSpPr>
        <p:spPr>
          <a:xfrm>
            <a:off x="2476957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Sequencing</a:t>
            </a:r>
          </a:p>
        </p:txBody>
      </p:sp>
      <p:sp>
        <p:nvSpPr>
          <p:cNvPr id="28" name="Chip"/>
          <p:cNvSpPr/>
          <p:nvPr/>
        </p:nvSpPr>
        <p:spPr>
          <a:xfrm>
            <a:off x="4313834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Cop voice</a:t>
            </a:r>
          </a:p>
        </p:txBody>
      </p:sp>
      <p:sp>
        <p:nvSpPr>
          <p:cNvPr id="29" name="Chip"/>
          <p:cNvSpPr/>
          <p:nvPr/>
        </p:nvSpPr>
        <p:spPr>
          <a:xfrm>
            <a:off x="6150711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ATMIST</a:t>
            </a:r>
          </a:p>
        </p:txBody>
      </p:sp>
      <p:sp>
        <p:nvSpPr>
          <p:cNvPr id="30" name="Chip"/>
          <p:cNvSpPr/>
          <p:nvPr/>
        </p:nvSpPr>
        <p:spPr>
          <a:xfrm>
            <a:off x="7987588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After-action</a:t>
            </a:r>
          </a:p>
        </p:txBody>
      </p:sp>
      <p:sp>
        <p:nvSpPr>
          <p:cNvPr id="31" name="Chip"/>
          <p:cNvSpPr/>
          <p:nvPr/>
        </p:nvSpPr>
        <p:spPr>
          <a:xfrm>
            <a:off x="9824466" y="5897880"/>
            <a:ext cx="1727149" cy="347472"/>
          </a:xfrm>
          <a:prstGeom prst="roundRect">
            <a:avLst>
              <a:gd name="adj" fmla="val 50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tIns="0" rIns="36576" bIns="0"/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Eval harness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Process flow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From the crew’s words to the constable’s phone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Process flow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6 / 17</a:t>
            </a:r>
          </a:p>
        </p:txBody>
      </p:sp>
      <p:sp>
        <p:nvSpPr>
          <p:cNvPr id="8" name="Swimlane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6000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822959" y="2075688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00">
                <a:solidFill>
                  <a:srgbClr val="6B7280"/>
                </a:solidFill>
                <a:latin typeface="Arial"/>
                <a:ea typeface="Arial"/>
                <a:cs typeface="Arial"/>
              </a:rPr>
              <a:t>Road</a:t>
            </a:r>
          </a:p>
        </p:txBody>
      </p:sp>
      <p:sp>
        <p:nvSpPr>
          <p:cNvPr id="10" name="Swimlane"/>
          <p:cNvSpPr/>
          <p:nvPr/>
        </p:nvSpPr>
        <p:spPr>
          <a:xfrm>
            <a:off x="640080" y="3977639"/>
            <a:ext cx="10911535" cy="1783080"/>
          </a:xfrm>
          <a:prstGeom prst="roundRect">
            <a:avLst>
              <a:gd name="adj" fmla="val 6153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"/>
          <p:cNvSpPr txBox="1"/>
          <p:nvPr/>
        </p:nvSpPr>
        <p:spPr>
          <a:xfrm>
            <a:off x="822959" y="4087368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00">
                <a:solidFill>
                  <a:srgbClr val="6B7280"/>
                </a:solidFill>
                <a:latin typeface="Arial"/>
                <a:ea typeface="Arial"/>
                <a:cs typeface="Arial"/>
              </a:rPr>
              <a:t>Hospital</a:t>
            </a:r>
          </a:p>
        </p:txBody>
      </p:sp>
      <p:sp>
        <p:nvSpPr>
          <p:cNvPr id="12" name="Flow step"/>
          <p:cNvSpPr/>
          <p:nvPr/>
        </p:nvSpPr>
        <p:spPr>
          <a:xfrm>
            <a:off x="822959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1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Crew speaks</a:t>
            </a:r>
          </a:p>
        </p:txBody>
      </p:sp>
      <p:cxnSp>
        <p:nvCxnSpPr>
          <p:cNvPr id="13" name="Connector"/>
          <p:cNvCxnSpPr/>
          <p:nvPr/>
        </p:nvCxnSpPr>
        <p:spPr>
          <a:xfrm>
            <a:off x="2331720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Flow step"/>
          <p:cNvSpPr/>
          <p:nvPr/>
        </p:nvSpPr>
        <p:spPr>
          <a:xfrm>
            <a:off x="2635849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2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 extracts</a:t>
            </a:r>
          </a:p>
        </p:txBody>
      </p:sp>
      <p:cxnSp>
        <p:nvCxnSpPr>
          <p:cNvPr id="15" name="Connector"/>
          <p:cNvCxnSpPr/>
          <p:nvPr/>
        </p:nvCxnSpPr>
        <p:spPr>
          <a:xfrm>
            <a:off x="4144609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low step"/>
          <p:cNvSpPr/>
          <p:nvPr/>
        </p:nvSpPr>
        <p:spPr>
          <a:xfrm>
            <a:off x="4448738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3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Crew confirms tier</a:t>
            </a:r>
          </a:p>
        </p:txBody>
      </p:sp>
      <p:cxnSp>
        <p:nvCxnSpPr>
          <p:cNvPr id="17" name="Connector"/>
          <p:cNvCxnSpPr/>
          <p:nvPr/>
        </p:nvCxnSpPr>
        <p:spPr>
          <a:xfrm>
            <a:off x="5957498" y="2971800"/>
            <a:ext cx="276698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Flow step"/>
          <p:cNvSpPr/>
          <p:nvPr/>
        </p:nvSpPr>
        <p:spPr>
          <a:xfrm>
            <a:off x="6261628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4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Queue sizes alert</a:t>
            </a:r>
          </a:p>
        </p:txBody>
      </p:sp>
      <p:cxnSp>
        <p:nvCxnSpPr>
          <p:cNvPr id="19" name="Connector"/>
          <p:cNvCxnSpPr/>
          <p:nvPr/>
        </p:nvCxnSpPr>
        <p:spPr>
          <a:xfrm>
            <a:off x="7770388" y="2971800"/>
            <a:ext cx="276697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Flow step"/>
          <p:cNvSpPr/>
          <p:nvPr/>
        </p:nvSpPr>
        <p:spPr>
          <a:xfrm>
            <a:off x="8074517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5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Cop hears, ACKs</a:t>
            </a:r>
          </a:p>
        </p:txBody>
      </p:sp>
      <p:cxnSp>
        <p:nvCxnSpPr>
          <p:cNvPr id="21" name="Connector"/>
          <p:cNvCxnSpPr/>
          <p:nvPr/>
        </p:nvCxnSpPr>
        <p:spPr>
          <a:xfrm>
            <a:off x="9583277" y="2971800"/>
            <a:ext cx="276698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Flow step"/>
          <p:cNvSpPr/>
          <p:nvPr/>
        </p:nvSpPr>
        <p:spPr>
          <a:xfrm>
            <a:off x="9887407" y="2468880"/>
            <a:ext cx="1481328" cy="1005840"/>
          </a:xfrm>
          <a:prstGeom prst="roundRect">
            <a:avLst>
              <a:gd name="adj" fmla="val 9090"/>
            </a:avLst>
          </a:prstGeom>
          <a:solidFill>
            <a:srgbClr val="FEF3C7"/>
          </a:solidFill>
          <a:ln w="3175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91440" rIns="73152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6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SignalAdapter (simulated)</a:t>
            </a:r>
          </a:p>
        </p:txBody>
      </p:sp>
      <p:sp>
        <p:nvSpPr>
          <p:cNvPr id="23" name="Flow step"/>
          <p:cNvSpPr/>
          <p:nvPr/>
        </p:nvSpPr>
        <p:spPr>
          <a:xfrm>
            <a:off x="6261628" y="4480559"/>
            <a:ext cx="3294217" cy="822960"/>
          </a:xfrm>
          <a:prstGeom prst="roundRect">
            <a:avLst>
              <a:gd name="adj" fmla="val 8888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tIns="91440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Arial"/>
                <a:ea typeface="Arial"/>
                <a:cs typeface="Arial"/>
              </a:rPr>
              <a:t>7</a:t>
            </a:r>
          </a:p>
          <a:p>
            <a:pPr algn="l">
              <a:spcAft>
                <a:spcPts val="200"/>
              </a:spcAft>
            </a:pPr>
            <a:r>
              <a:rPr sz="1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Hospital brief at ETA−5</a:t>
            </a:r>
          </a:p>
        </p:txBody>
      </p:sp>
      <p:cxnSp>
        <p:nvCxnSpPr>
          <p:cNvPr id="24" name="Connector"/>
          <p:cNvCxnSpPr/>
          <p:nvPr/>
        </p:nvCxnSpPr>
        <p:spPr>
          <a:xfrm>
            <a:off x="5189402" y="3502152"/>
            <a:ext cx="0" cy="1389888"/>
          </a:xfrm>
          <a:prstGeom prst="line">
            <a:avLst/>
          </a:prstGeom>
          <a:ln w="22225">
            <a:solidFill>
              <a:srgbClr val="6B728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"/>
          <p:cNvCxnSpPr/>
          <p:nvPr/>
        </p:nvCxnSpPr>
        <p:spPr>
          <a:xfrm>
            <a:off x="5189402" y="4892040"/>
            <a:ext cx="1044794" cy="0"/>
          </a:xfrm>
          <a:prstGeom prst="line">
            <a:avLst/>
          </a:prstGeom>
          <a:ln w="22225">
            <a:solidFill>
              <a:srgbClr val="6B7280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"/>
          <p:cNvSpPr txBox="1"/>
          <p:nvPr/>
        </p:nvSpPr>
        <p:spPr>
          <a:xfrm>
            <a:off x="640080" y="594360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Amber seam: simulated today.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Wireframes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Real screens from the running prototype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Wireframes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7 / 17</a:t>
            </a:r>
          </a:p>
        </p:txBody>
      </p:sp>
      <p:sp>
        <p:nvSpPr>
          <p:cNvPr id="8" name="Phone frame"/>
          <p:cNvSpPr/>
          <p:nvPr/>
        </p:nvSpPr>
        <p:spPr>
          <a:xfrm>
            <a:off x="914400" y="2011679"/>
            <a:ext cx="1725117" cy="3520440"/>
          </a:xfrm>
          <a:prstGeom prst="roundRect">
            <a:avLst>
              <a:gd name="adj" fmla="val 1378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103120"/>
            <a:ext cx="1542237" cy="333756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548640" y="5696712"/>
            <a:ext cx="245663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Voice triage</a:t>
            </a:r>
          </a:p>
        </p:txBody>
      </p:sp>
      <p:sp>
        <p:nvSpPr>
          <p:cNvPr id="11" name="Phone frame"/>
          <p:cNvSpPr/>
          <p:nvPr/>
        </p:nvSpPr>
        <p:spPr>
          <a:xfrm>
            <a:off x="3279597" y="2011679"/>
            <a:ext cx="1725117" cy="3520440"/>
          </a:xfrm>
          <a:prstGeom prst="roundRect">
            <a:avLst>
              <a:gd name="adj" fmla="val 1378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1037" y="2103120"/>
            <a:ext cx="1542237" cy="3337560"/>
          </a:xfrm>
          <a:prstGeom prst="rect">
            <a:avLst/>
          </a:prstGeom>
        </p:spPr>
      </p:pic>
      <p:sp>
        <p:nvSpPr>
          <p:cNvPr id="13" name="Text"/>
          <p:cNvSpPr txBox="1"/>
          <p:nvPr/>
        </p:nvSpPr>
        <p:spPr>
          <a:xfrm>
            <a:off x="2913837" y="5696712"/>
            <a:ext cx="2456637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PREPARE alert</a:t>
            </a:r>
          </a:p>
        </p:txBody>
      </p:sp>
      <p:sp>
        <p:nvSpPr>
          <p:cNvPr id="14" name="Laptop frame"/>
          <p:cNvSpPr/>
          <p:nvPr/>
        </p:nvSpPr>
        <p:spPr>
          <a:xfrm>
            <a:off x="5644794" y="2139753"/>
            <a:ext cx="5632500" cy="3264293"/>
          </a:xfrm>
          <a:prstGeom prst="roundRect">
            <a:avLst>
              <a:gd name="adj" fmla="val 3361"/>
            </a:avLst>
          </a:prstGeom>
          <a:solidFill>
            <a:srgbClr val="1B1C20"/>
          </a:solidFill>
          <a:ln w="12700">
            <a:solidFill>
              <a:srgbClr val="3A3C42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4522" y="2249481"/>
            <a:ext cx="5413044" cy="3044837"/>
          </a:xfrm>
          <a:prstGeom prst="rect">
            <a:avLst/>
          </a:prstGeom>
        </p:spPr>
      </p:pic>
      <p:sp>
        <p:nvSpPr>
          <p:cNvPr id="16" name="Laptop base"/>
          <p:cNvSpPr/>
          <p:nvPr/>
        </p:nvSpPr>
        <p:spPr>
          <a:xfrm>
            <a:off x="5416194" y="5404046"/>
            <a:ext cx="6089700" cy="109728"/>
          </a:xfrm>
          <a:prstGeom prst="roundRect">
            <a:avLst>
              <a:gd name="adj" fmla="val 50000"/>
            </a:avLst>
          </a:prstGeom>
          <a:solidFill>
            <a:srgbClr val="3A3C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"/>
          <p:cNvSpPr txBox="1"/>
          <p:nvPr/>
        </p:nvSpPr>
        <p:spPr>
          <a:xfrm>
            <a:off x="5279034" y="5696712"/>
            <a:ext cx="63640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Hospital handover</a:t>
            </a:r>
          </a:p>
        </p:txBody>
      </p:sp>
      <p:sp>
        <p:nvSpPr>
          <p:cNvPr id="18" name="Text"/>
          <p:cNvSpPr txBox="1"/>
          <p:nvPr/>
        </p:nvSpPr>
        <p:spPr>
          <a:xfrm>
            <a:off x="640080" y="6080760"/>
            <a:ext cx="109115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Live rehearsal captures; synthetic patients.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Architecture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Rules decide; Google Cloud services extract and explain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Architecture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8 / 17</a:t>
            </a:r>
          </a:p>
        </p:txBody>
      </p:sp>
      <p:pic>
        <p:nvPicPr>
          <p:cNvPr id="8" name="Figure architecture" descr="gc-architecture-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812" y="1920240"/>
            <a:ext cx="8894069" cy="3931920"/>
          </a:xfrm>
          <a:prstGeom prst="rect">
            <a:avLst/>
          </a:prstGeom>
        </p:spPr>
      </p:pic>
      <p:sp>
        <p:nvSpPr>
          <p:cNvPr id="9" name="Text"/>
          <p:cNvSpPr txBox="1"/>
          <p:nvPr/>
        </p:nvSpPr>
        <p:spPr>
          <a:xfrm>
            <a:off x="640080" y="5989320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Rules engine on Cloud Run, Firestore event bus; the amber SignalAdapter seam is where a real controller plugs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Technologies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(Google Cloud)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 Google Cloud stack, from model to delivery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Technologies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9 / 17</a:t>
            </a:r>
          </a:p>
        </p:txBody>
      </p:sp>
      <p:sp>
        <p:nvSpPr>
          <p:cNvPr id="8" name="Marker"/>
          <p:cNvSpPr/>
          <p:nvPr/>
        </p:nvSpPr>
        <p:spPr>
          <a:xfrm>
            <a:off x="640080" y="2221991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1051560" y="2011679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&amp; language</a:t>
            </a:r>
          </a:p>
        </p:txBody>
      </p:sp>
      <p:sp>
        <p:nvSpPr>
          <p:cNvPr id="10" name="Pill"/>
          <p:cNvSpPr/>
          <p:nvPr/>
        </p:nvSpPr>
        <p:spPr>
          <a:xfrm>
            <a:off x="3017520" y="2011679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 on Vertex AI</a:t>
            </a:r>
          </a:p>
        </p:txBody>
      </p:sp>
      <p:sp>
        <p:nvSpPr>
          <p:cNvPr id="11" name="Pill"/>
          <p:cNvSpPr/>
          <p:nvPr/>
        </p:nvSpPr>
        <p:spPr>
          <a:xfrm>
            <a:off x="5923178" y="2011679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Google ADK</a:t>
            </a:r>
          </a:p>
        </p:txBody>
      </p:sp>
      <p:sp>
        <p:nvSpPr>
          <p:cNvPr id="12" name="Pill"/>
          <p:cNvSpPr/>
          <p:nvPr/>
        </p:nvSpPr>
        <p:spPr>
          <a:xfrm>
            <a:off x="8828836" y="2011679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Translation</a:t>
            </a:r>
          </a:p>
        </p:txBody>
      </p:sp>
      <p:sp>
        <p:nvSpPr>
          <p:cNvPr id="13" name="Marker"/>
          <p:cNvSpPr/>
          <p:nvPr/>
        </p:nvSpPr>
        <p:spPr>
          <a:xfrm>
            <a:off x="640080" y="3026663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"/>
          <p:cNvSpPr txBox="1"/>
          <p:nvPr/>
        </p:nvSpPr>
        <p:spPr>
          <a:xfrm>
            <a:off x="1051560" y="2816351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Maps &amp; speech</a:t>
            </a:r>
          </a:p>
        </p:txBody>
      </p:sp>
      <p:sp>
        <p:nvSpPr>
          <p:cNvPr id="15" name="Pill"/>
          <p:cNvSpPr/>
          <p:nvPr/>
        </p:nvSpPr>
        <p:spPr>
          <a:xfrm>
            <a:off x="3017520" y="2816351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Routes API</a:t>
            </a:r>
          </a:p>
        </p:txBody>
      </p:sp>
      <p:sp>
        <p:nvSpPr>
          <p:cNvPr id="16" name="Pill"/>
          <p:cNvSpPr/>
          <p:nvPr/>
        </p:nvSpPr>
        <p:spPr>
          <a:xfrm>
            <a:off x="5923178" y="2816351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Text-to-Speech</a:t>
            </a:r>
          </a:p>
        </p:txBody>
      </p:sp>
      <p:sp>
        <p:nvSpPr>
          <p:cNvPr id="17" name="Pill"/>
          <p:cNvSpPr/>
          <p:nvPr/>
        </p:nvSpPr>
        <p:spPr>
          <a:xfrm>
            <a:off x="8828836" y="2816351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Storage</a:t>
            </a:r>
          </a:p>
        </p:txBody>
      </p:sp>
      <p:sp>
        <p:nvSpPr>
          <p:cNvPr id="18" name="Marker"/>
          <p:cNvSpPr/>
          <p:nvPr/>
        </p:nvSpPr>
        <p:spPr>
          <a:xfrm>
            <a:off x="640080" y="3831336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"/>
          <p:cNvSpPr txBox="1"/>
          <p:nvPr/>
        </p:nvSpPr>
        <p:spPr>
          <a:xfrm>
            <a:off x="1051560" y="3621024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Run &amp; data</a:t>
            </a:r>
          </a:p>
        </p:txBody>
      </p:sp>
      <p:sp>
        <p:nvSpPr>
          <p:cNvPr id="20" name="Pill"/>
          <p:cNvSpPr/>
          <p:nvPr/>
        </p:nvSpPr>
        <p:spPr>
          <a:xfrm>
            <a:off x="3017520" y="3621024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Run</a:t>
            </a:r>
          </a:p>
        </p:txBody>
      </p:sp>
      <p:sp>
        <p:nvSpPr>
          <p:cNvPr id="21" name="Pill"/>
          <p:cNvSpPr/>
          <p:nvPr/>
        </p:nvSpPr>
        <p:spPr>
          <a:xfrm>
            <a:off x="5923178" y="3621024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Firestore</a:t>
            </a:r>
          </a:p>
        </p:txBody>
      </p:sp>
      <p:sp>
        <p:nvSpPr>
          <p:cNvPr id="22" name="Pill"/>
          <p:cNvSpPr/>
          <p:nvPr/>
        </p:nvSpPr>
        <p:spPr>
          <a:xfrm>
            <a:off x="8828836" y="3621024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BigQuery</a:t>
            </a:r>
          </a:p>
        </p:txBody>
      </p:sp>
      <p:sp>
        <p:nvSpPr>
          <p:cNvPr id="23" name="Marker"/>
          <p:cNvSpPr/>
          <p:nvPr/>
        </p:nvSpPr>
        <p:spPr>
          <a:xfrm>
            <a:off x="640080" y="4636008"/>
            <a:ext cx="219456" cy="219456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"/>
          <p:cNvSpPr txBox="1"/>
          <p:nvPr/>
        </p:nvSpPr>
        <p:spPr>
          <a:xfrm>
            <a:off x="1051560" y="4425696"/>
            <a:ext cx="1920240" cy="64008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Delivery</a:t>
            </a:r>
          </a:p>
        </p:txBody>
      </p:sp>
      <p:sp>
        <p:nvSpPr>
          <p:cNvPr id="25" name="Pill"/>
          <p:cNvSpPr/>
          <p:nvPr/>
        </p:nvSpPr>
        <p:spPr>
          <a:xfrm>
            <a:off x="3017520" y="4425696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Firebase Hosting</a:t>
            </a:r>
          </a:p>
        </p:txBody>
      </p:sp>
      <p:sp>
        <p:nvSpPr>
          <p:cNvPr id="26" name="Pill"/>
          <p:cNvSpPr/>
          <p:nvPr/>
        </p:nvSpPr>
        <p:spPr>
          <a:xfrm>
            <a:off x="5923178" y="4425696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Cloud Build</a:t>
            </a:r>
          </a:p>
        </p:txBody>
      </p:sp>
      <p:sp>
        <p:nvSpPr>
          <p:cNvPr id="27" name="Pill"/>
          <p:cNvSpPr/>
          <p:nvPr/>
        </p:nvSpPr>
        <p:spPr>
          <a:xfrm>
            <a:off x="8828836" y="4425696"/>
            <a:ext cx="2722778" cy="64008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bIns="0"/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Secret Manager</a:t>
            </a:r>
          </a:p>
        </p:txBody>
      </p:sp>
      <p:sp>
        <p:nvSpPr>
          <p:cNvPr id="28" name="BigQuery ML note"/>
          <p:cNvSpPr/>
          <p:nvPr/>
        </p:nvSpPr>
        <p:spPr>
          <a:xfrm>
            <a:off x="640080" y="5321807"/>
            <a:ext cx="10911535" cy="640080"/>
          </a:xfrm>
          <a:prstGeom prst="roundRect">
            <a:avLst>
              <a:gd name="adj" fmla="val 14285"/>
            </a:avLst>
          </a:prstGeom>
          <a:solidFill>
            <a:srgbClr val="F5F6F7"/>
          </a:solidFill>
          <a:ln w="952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0" rIns="182880" bIns="0"/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BigQuery ML  </a:t>
            </a:r>
            <a:r>
              <a:rPr sz="16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retrained 8 Oct on 2,173 traffic readings, 5–8 Oct, mostly peak hours; 88% still zero jam; baseline, not deployed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Estimated implementation cost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About ₹155 per vehicle-hour, almost all of it Routes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Estimated implementation cost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10 / 17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57400"/>
            <a:ext cx="3515258" cy="1691640"/>
          </a:xfrm>
          <a:prstGeom prst="roundRect">
            <a:avLst>
              <a:gd name="adj" fmla="val 7567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≈ ₹155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per vehicle-hour (estimate)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57400"/>
            <a:ext cx="3515258" cy="1691640"/>
          </a:xfrm>
          <a:prstGeom prst="roundRect">
            <a:avLst>
              <a:gd name="adj" fmla="val 756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≈ ₹50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per 20-min run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57400"/>
            <a:ext cx="3515258" cy="1691640"/>
          </a:xfrm>
          <a:prstGeom prst="roundRect">
            <a:avLst>
              <a:gd name="adj" fmla="val 756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≈ ₹5,000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city-month at 100 runs (illustrative)</a:t>
            </a:r>
          </a:p>
        </p:txBody>
      </p:sp>
      <p:sp>
        <p:nvSpPr>
          <p:cNvPr id="11" name="Cost cell"/>
          <p:cNvSpPr txBox="1"/>
          <p:nvPr/>
        </p:nvSpPr>
        <p:spPr>
          <a:xfrm>
            <a:off x="731519" y="4023360"/>
            <a:ext cx="21945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Routes</a:t>
            </a:r>
          </a:p>
        </p:txBody>
      </p:sp>
      <p:sp>
        <p:nvSpPr>
          <p:cNvPr id="12" name="Cost cell"/>
          <p:cNvSpPr txBox="1"/>
          <p:nvPr/>
        </p:nvSpPr>
        <p:spPr>
          <a:xfrm>
            <a:off x="3108960" y="4023360"/>
            <a:ext cx="31089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3/min × 60 × ₹0.85</a:t>
            </a:r>
          </a:p>
        </p:txBody>
      </p:sp>
      <p:sp>
        <p:nvSpPr>
          <p:cNvPr id="13" name="Cost cell"/>
          <p:cNvSpPr txBox="1"/>
          <p:nvPr/>
        </p:nvSpPr>
        <p:spPr>
          <a:xfrm>
            <a:off x="6400800" y="4023360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₹153</a:t>
            </a:r>
          </a:p>
        </p:txBody>
      </p:sp>
      <p:cxnSp>
        <p:nvCxnSpPr>
          <p:cNvPr id="14" name="Connector"/>
          <p:cNvCxnSpPr/>
          <p:nvPr/>
        </p:nvCxnSpPr>
        <p:spPr>
          <a:xfrm>
            <a:off x="640080" y="4590288"/>
            <a:ext cx="713232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Cost cell"/>
          <p:cNvSpPr txBox="1"/>
          <p:nvPr/>
        </p:nvSpPr>
        <p:spPr>
          <a:xfrm>
            <a:off x="731519" y="4590288"/>
            <a:ext cx="21945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Gemini</a:t>
            </a:r>
          </a:p>
        </p:txBody>
      </p:sp>
      <p:sp>
        <p:nvSpPr>
          <p:cNvPr id="16" name="Cost cell"/>
          <p:cNvSpPr txBox="1"/>
          <p:nvPr/>
        </p:nvSpPr>
        <p:spPr>
          <a:xfrm>
            <a:off x="3108960" y="4590288"/>
            <a:ext cx="31089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 × ₹0.02</a:t>
            </a:r>
          </a:p>
        </p:txBody>
      </p:sp>
      <p:sp>
        <p:nvSpPr>
          <p:cNvPr id="17" name="Cost cell"/>
          <p:cNvSpPr txBox="1"/>
          <p:nvPr/>
        </p:nvSpPr>
        <p:spPr>
          <a:xfrm>
            <a:off x="6400800" y="4590288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₹0.34</a:t>
            </a:r>
          </a:p>
        </p:txBody>
      </p:sp>
      <p:cxnSp>
        <p:nvCxnSpPr>
          <p:cNvPr id="18" name="Connector"/>
          <p:cNvCxnSpPr/>
          <p:nvPr/>
        </p:nvCxnSpPr>
        <p:spPr>
          <a:xfrm>
            <a:off x="640080" y="5157216"/>
            <a:ext cx="713232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Cost cell"/>
          <p:cNvSpPr txBox="1"/>
          <p:nvPr/>
        </p:nvSpPr>
        <p:spPr>
          <a:xfrm>
            <a:off x="731519" y="5157216"/>
            <a:ext cx="21945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Text-to-Speech</a:t>
            </a:r>
          </a:p>
        </p:txBody>
      </p:sp>
      <p:sp>
        <p:nvSpPr>
          <p:cNvPr id="20" name="Cost cell"/>
          <p:cNvSpPr txBox="1"/>
          <p:nvPr/>
        </p:nvSpPr>
        <p:spPr>
          <a:xfrm>
            <a:off x="3108960" y="5157216"/>
            <a:ext cx="31089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/>
            </a:r>
          </a:p>
        </p:txBody>
      </p:sp>
      <p:sp>
        <p:nvSpPr>
          <p:cNvPr id="21" name="Cost cell"/>
          <p:cNvSpPr txBox="1"/>
          <p:nvPr/>
        </p:nvSpPr>
        <p:spPr>
          <a:xfrm>
            <a:off x="6400800" y="5157216"/>
            <a:ext cx="1280160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₹1.30</a:t>
            </a:r>
          </a:p>
        </p:txBody>
      </p:sp>
      <p:cxnSp>
        <p:nvCxnSpPr>
          <p:cNvPr id="22" name="Connector"/>
          <p:cNvCxnSpPr/>
          <p:nvPr/>
        </p:nvCxnSpPr>
        <p:spPr>
          <a:xfrm>
            <a:off x="640080" y="5724144"/>
            <a:ext cx="7132320" cy="0"/>
          </a:xfrm>
          <a:prstGeom prst="line">
            <a:avLst/>
          </a:prstGeom>
          <a:ln w="9525">
            <a:solidFill>
              <a:srgbClr val="D9DAD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Lever"/>
          <p:cNvSpPr/>
          <p:nvPr/>
        </p:nvSpPr>
        <p:spPr>
          <a:xfrm>
            <a:off x="8138160" y="4023360"/>
            <a:ext cx="3413455" cy="1700784"/>
          </a:xfrm>
          <a:prstGeom prst="roundRect">
            <a:avLst>
              <a:gd name="adj" fmla="val 6451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91440" rIns="182880" bIns="91440"/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Lever: cache Routes beyond today's 20 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Snapshots of the prototype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The loop, mid-run, from the live rehearsal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Snapshots of the prototype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11 / 17</a:t>
            </a:r>
          </a:p>
        </p:txBody>
      </p:sp>
      <p:pic>
        <p:nvPicPr>
          <p:cNvPr id="8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11679"/>
            <a:ext cx="6035040" cy="338328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9" name="Text"/>
          <p:cNvSpPr txBox="1"/>
          <p:nvPr/>
        </p:nvSpPr>
        <p:spPr>
          <a:xfrm>
            <a:off x="640080" y="5486400"/>
            <a:ext cx="603504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Replay simulator</a:t>
            </a:r>
          </a:p>
        </p:txBody>
      </p:sp>
      <p:pic>
        <p:nvPicPr>
          <p:cNvPr id="10" name="Screenshot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0" y="2011679"/>
            <a:ext cx="4510735" cy="146304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1" name="Text"/>
          <p:cNvSpPr txBox="1"/>
          <p:nvPr/>
        </p:nvSpPr>
        <p:spPr>
          <a:xfrm>
            <a:off x="7040880" y="3566160"/>
            <a:ext cx="45107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Control room</a:t>
            </a:r>
          </a:p>
        </p:txBody>
      </p:sp>
      <p:pic>
        <p:nvPicPr>
          <p:cNvPr id="12" name="Screenshot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3977639"/>
            <a:ext cx="4510735" cy="141732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3" name="Text"/>
          <p:cNvSpPr txBox="1"/>
          <p:nvPr/>
        </p:nvSpPr>
        <p:spPr>
          <a:xfrm>
            <a:off x="7040880" y="5486400"/>
            <a:ext cx="4510735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374151"/>
                </a:solidFill>
                <a:latin typeface="Arial"/>
                <a:ea typeface="Arial"/>
                <a:cs typeface="Arial"/>
              </a:rPr>
              <a:t>STOP alert, spoken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Snapshots of the prototype</a:t>
            </a:r>
            <a:r>
              <a:rPr sz="18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 (routing agent)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Live routing trace: Jayadeva chosen, two alternatives rejected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Snapshots of the prototype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12 / 17</a:t>
            </a:r>
          </a:p>
        </p:txBody>
      </p:sp>
      <p:sp>
        <p:nvSpPr>
          <p:cNvPr id="8" name="Figure trace"/>
          <p:cNvSpPr/>
          <p:nvPr/>
        </p:nvSpPr>
        <p:spPr>
          <a:xfrm>
            <a:off x="640080" y="2057400"/>
            <a:ext cx="6035040" cy="3566160"/>
          </a:xfrm>
          <a:prstGeom prst="roundRect">
            <a:avLst>
              <a:gd name="adj" fmla="val 3589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82880" rIns="228600" bIns="182880"/>
          <a:lstStyle/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1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required_capabilities(critical) -&gt; cath_lab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2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list_hospitals(blr) -&gt; 3 hospitals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3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check_diversion(Jayadeva) -&gt; accepting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4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check_diversion(Apollo) -&gt; on diversion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5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eta_to(Jayadeva) -&gt; 373 s, 2.6 km</a:t>
            </a:r>
          </a:p>
          <a:p>
            <a:pPr algn="l">
              <a:spcAft>
                <a:spcPts val="1200"/>
              </a:spcAft>
            </a:pPr>
            <a:r>
              <a:rPr sz="1400" b="1">
                <a:solidFill>
                  <a:srgbClr val="F59E0B"/>
                </a:solidFill>
                <a:latin typeface="Courier New"/>
                <a:ea typeface="Courier New"/>
                <a:cs typeface="Courier New"/>
              </a:rPr>
              <a:t>6  </a:t>
            </a:r>
            <a:r>
              <a:rPr sz="1400" b="0">
                <a:solidFill>
                  <a:srgbClr val="E5E7EB"/>
                </a:solidFill>
                <a:latin typeface="Courier New"/>
                <a:ea typeface="Courier New"/>
                <a:cs typeface="Courier New"/>
              </a:rPr>
              <a:t>Added to baseline: icu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Destination Jayadeva, confidence 1.0</a:t>
            </a:r>
          </a:p>
        </p:txBody>
      </p:sp>
      <p:pic>
        <p:nvPicPr>
          <p:cNvPr id="9" name="Screenshot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057400"/>
            <a:ext cx="4602175" cy="3108960"/>
          </a:xfrm>
          <a:prstGeom prst="rect">
            <a:avLst/>
          </a:prstGeom>
          <a:ln w="9525">
            <a:solidFill>
              <a:srgbClr val="2B2D31"/>
            </a:solidFill>
          </a:ln>
          <a:effectLst>
            <a:outerShdw blurRad="152400" dist="38100" dir="5400000" algn="t" rotWithShape="0">
              <a:srgbClr val="000000">
                <a:alpha val="26000"/>
              </a:srgbClr>
            </a:outerShdw>
          </a:effectLst>
        </p:spPr>
      </p:pic>
      <p:sp>
        <p:nvSpPr>
          <p:cNvPr id="10" name="Text"/>
          <p:cNvSpPr txBox="1"/>
          <p:nvPr/>
        </p:nvSpPr>
        <p:spPr>
          <a:xfrm>
            <a:off x="6949440" y="5303520"/>
            <a:ext cx="4602175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The trace as shown in /vehicle.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Performance report / benchmarking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Synthetic-voice results, scripted-run timings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Performance report / benchmarking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13 / 17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11679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90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%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field accuracy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11679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100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%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tier accuracy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11679"/>
            <a:ext cx="3515258" cy="1737360"/>
          </a:xfrm>
          <a:prstGeom prst="roundRect">
            <a:avLst>
              <a:gd name="adj" fmla="val 7368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3.5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mean extraction</a:t>
            </a:r>
          </a:p>
        </p:txBody>
      </p:sp>
      <p:sp>
        <p:nvSpPr>
          <p:cNvPr id="11" name="Text"/>
          <p:cNvSpPr txBox="1"/>
          <p:nvPr/>
        </p:nvSpPr>
        <p:spPr>
          <a:xfrm>
            <a:off x="640080" y="3886200"/>
            <a:ext cx="10911535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12 synthetic clips, 11 scored for tier, 1 intervention note; not field recordings. Before the fix: 87 % / 73 %.</a:t>
            </a:r>
          </a:p>
        </p:txBody>
      </p:sp>
      <p:sp>
        <p:nvSpPr>
          <p:cNvPr id="12" name="Stat tile"/>
          <p:cNvSpPr/>
          <p:nvPr/>
        </p:nvSpPr>
        <p:spPr>
          <a:xfrm>
            <a:off x="640080" y="4389120"/>
            <a:ext cx="5120640" cy="1645920"/>
          </a:xfrm>
          <a:prstGeom prst="roundRect">
            <a:avLst>
              <a:gd name="adj" fmla="val 777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48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17 / 37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ms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/location p50 / p95, offline</a:t>
            </a:r>
          </a:p>
        </p:txBody>
      </p:sp>
      <p:sp>
        <p:nvSpPr>
          <p:cNvPr id="13" name="Stat tile"/>
          <p:cNvSpPr/>
          <p:nvPr/>
        </p:nvSpPr>
        <p:spPr>
          <a:xfrm>
            <a:off x="6035040" y="4389120"/>
            <a:ext cx="5516575" cy="1645920"/>
          </a:xfrm>
          <a:prstGeom prst="roundRect">
            <a:avLst>
              <a:gd name="adj" fmla="val 7777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182880" bIns="91440"/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412</a:t>
            </a:r>
            <a:r>
              <a:rPr sz="18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 Python · </a:t>
            </a:r>
            <a:r>
              <a:rPr sz="3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161</a:t>
            </a:r>
            <a:r>
              <a:rPr sz="18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 web tests</a:t>
            </a:r>
          </a:p>
          <a:p>
            <a:pPr algn="l">
              <a:spcAft>
                <a:spcPts val="600"/>
              </a:spcAft>
            </a:pPr>
            <a:r>
              <a:rPr sz="3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98 %</a:t>
            </a:r>
            <a:r>
              <a:rPr sz="18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 coverage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Additional details / future development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From constable to controller, in three steps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Additional details / future development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14 / 17</a:t>
            </a:r>
          </a:p>
        </p:txBody>
      </p:sp>
      <p:sp>
        <p:nvSpPr>
          <p:cNvPr id="8" name="Roadmap step"/>
          <p:cNvSpPr/>
          <p:nvPr/>
        </p:nvSpPr>
        <p:spPr>
          <a:xfrm>
            <a:off x="640080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14171B"/>
          </a:solidFill>
          <a:ln>
            <a:noFill/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F59E0B"/>
                </a:solidFill>
                <a:latin typeface="Arial"/>
                <a:ea typeface="Arial"/>
                <a:cs typeface="Arial"/>
              </a:rPr>
              <a:t>Today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Constable alerts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Spoken alert, one ACK.</a:t>
            </a:r>
          </a:p>
        </p:txBody>
      </p:sp>
      <p:cxnSp>
        <p:nvCxnSpPr>
          <p:cNvPr id="9" name="Connector"/>
          <p:cNvCxnSpPr/>
          <p:nvPr/>
        </p:nvCxnSpPr>
        <p:spPr>
          <a:xfrm>
            <a:off x="3813048" y="3383280"/>
            <a:ext cx="641451" cy="0"/>
          </a:xfrm>
          <a:prstGeom prst="line">
            <a:avLst/>
          </a:prstGeom>
          <a:ln w="28575">
            <a:solidFill>
              <a:srgbClr val="B45309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admap step"/>
          <p:cNvSpPr/>
          <p:nvPr/>
        </p:nvSpPr>
        <p:spPr>
          <a:xfrm>
            <a:off x="4564227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FEF3C7"/>
          </a:solidFill>
          <a:ln w="25400">
            <a:solidFill>
              <a:srgbClr val="F59E0B"/>
            </a:solidFill>
          </a:ln>
          <a:effectLst>
            <a:outerShdw blurRad="127000" dist="38100" dir="5400000" algn="t" rotWithShape="0">
              <a:srgbClr val="000000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Phase 2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 controllers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Constables no longer clear queues by hand.</a:t>
            </a:r>
          </a:p>
        </p:txBody>
      </p:sp>
      <p:cxnSp>
        <p:nvCxnSpPr>
          <p:cNvPr id="11" name="Connector"/>
          <p:cNvCxnSpPr/>
          <p:nvPr/>
        </p:nvCxnSpPr>
        <p:spPr>
          <a:xfrm>
            <a:off x="7737195" y="3383280"/>
            <a:ext cx="641452" cy="0"/>
          </a:xfrm>
          <a:prstGeom prst="line">
            <a:avLst/>
          </a:prstGeom>
          <a:ln w="28575">
            <a:solidFill>
              <a:srgbClr val="B45309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admap step"/>
          <p:cNvSpPr/>
          <p:nvPr/>
        </p:nvSpPr>
        <p:spPr>
          <a:xfrm>
            <a:off x="8488375" y="2057400"/>
            <a:ext cx="3063240" cy="2286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 w="12700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0" tIns="274320" rIns="228600" bIns="182880"/>
          <a:lstStyle/>
          <a:p>
            <a:pPr algn="l">
              <a:spcAft>
                <a:spcPts val="1200"/>
              </a:spcAft>
            </a:pPr>
            <a:r>
              <a:rPr sz="1200" b="1" cap="all" spc="100">
                <a:solidFill>
                  <a:srgbClr val="B45309"/>
                </a:solidFill>
                <a:latin typeface="Arial"/>
                <a:ea typeface="Arial"/>
                <a:cs typeface="Arial"/>
              </a:rPr>
              <a:t>Phase 3</a:t>
            </a:r>
          </a:p>
          <a:p>
            <a:pPr algn="l">
              <a:spcAft>
                <a:spcPts val="1200"/>
              </a:spcAft>
            </a:pPr>
            <a:r>
              <a:rPr sz="2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Learning controller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2,173 traffic readings logged, 5–8 Oct.</a:t>
            </a:r>
          </a:p>
        </p:txBody>
      </p:sp>
      <p:sp>
        <p:nvSpPr>
          <p:cNvPr id="13" name="Limits"/>
          <p:cNvSpPr/>
          <p:nvPr/>
        </p:nvSpPr>
        <p:spPr>
          <a:xfrm>
            <a:off x="640080" y="4663440"/>
            <a:ext cx="10911535" cy="1005840"/>
          </a:xfrm>
          <a:prstGeom prst="roundRect">
            <a:avLst>
              <a:gd name="adj" fmla="val 10909"/>
            </a:avLst>
          </a:prstGeom>
          <a:solidFill>
            <a:srgbClr val="F5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91440" rIns="320040" bIns="91440"/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Signals simulated, patients synthetic, minutes saved estimated.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Sustainability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We size the green to the queue, so cross-traffic idling is bounded by the clearance time.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Sustainability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15 / 17</a:t>
            </a:r>
          </a:p>
        </p:txBody>
      </p:sp>
      <p:sp>
        <p:nvSpPr>
          <p:cNvPr id="8" name="Stat tile"/>
          <p:cNvSpPr/>
          <p:nvPr/>
        </p:nvSpPr>
        <p:spPr>
          <a:xfrm>
            <a:off x="640080" y="2057400"/>
            <a:ext cx="3515258" cy="2743200"/>
          </a:xfrm>
          <a:prstGeom prst="roundRect">
            <a:avLst>
              <a:gd name="adj" fmla="val 4666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0.25</a:t>
            </a:r>
            <a:r>
              <a:rPr sz="2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 L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idling fuel avoided per cleared queue (illustration: 20 vehicles × 60 s × 0.76 L/h)</a:t>
            </a:r>
          </a:p>
        </p:txBody>
      </p:sp>
      <p:sp>
        <p:nvSpPr>
          <p:cNvPr id="9" name="Stat tile"/>
          <p:cNvSpPr/>
          <p:nvPr/>
        </p:nvSpPr>
        <p:spPr>
          <a:xfrm>
            <a:off x="4338218" y="2057400"/>
            <a:ext cx="3515258" cy="2743200"/>
          </a:xfrm>
          <a:prstGeom prst="roundRect">
            <a:avLst>
              <a:gd name="adj" fmla="val 4666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2.35</a:t>
            </a:r>
            <a:r>
              <a:rPr sz="22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 kg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CO₂ per litre of petrol (EPA)</a:t>
            </a:r>
          </a:p>
        </p:txBody>
      </p:sp>
      <p:sp>
        <p:nvSpPr>
          <p:cNvPr id="10" name="Stat tile"/>
          <p:cNvSpPr/>
          <p:nvPr/>
        </p:nvSpPr>
        <p:spPr>
          <a:xfrm>
            <a:off x="8036356" y="2057400"/>
            <a:ext cx="3515258" cy="2743200"/>
          </a:xfrm>
          <a:prstGeom prst="roundRect">
            <a:avLst>
              <a:gd name="adj" fmla="val 4666"/>
            </a:avLst>
          </a:prstGeom>
          <a:solidFill>
            <a:srgbClr val="1417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rIns="228600" bIns="91440"/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59E0B"/>
                </a:solidFill>
                <a:latin typeface="Arial"/>
                <a:ea typeface="Arial"/>
                <a:cs typeface="Arial"/>
              </a:rPr>
              <a:t>SDG 3.8 · 11.2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E5E7EB"/>
                </a:solidFill>
                <a:latin typeface="Arial"/>
                <a:ea typeface="Arial"/>
                <a:cs typeface="Arial"/>
              </a:rPr>
              <a:t>emergency care access · sustainable transport</a:t>
            </a:r>
          </a:p>
        </p:txBody>
      </p:sp>
      <p:sp>
        <p:nvSpPr>
          <p:cNvPr id="11" name="Figure citation"/>
          <p:cNvSpPr txBox="1"/>
          <p:nvPr/>
        </p:nvSpPr>
        <p:spPr>
          <a:xfrm>
            <a:off x="640080" y="5074920"/>
            <a:ext cx="10911535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Idle burn: Argonne National Laboratory (Gaines, Rask, Keller), US DOE, 2014. CO₂: US EPA, GHG Equivalencies Calculator, 2024. The per-queue arithmetic is an illustration, not a measurement or a net saving.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Masthead eyebrow"/>
          <p:cNvSpPr txBox="1"/>
          <p:nvPr/>
        </p:nvSpPr>
        <p:spPr>
          <a:xfrm>
            <a:off x="640080" y="365760"/>
            <a:ext cx="10911535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cap="all" spc="120">
                <a:solidFill>
                  <a:srgbClr val="B45309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40080" y="640080"/>
            <a:ext cx="10911535" cy="566928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Links</a:t>
            </a:r>
          </a:p>
        </p:txBody>
      </p:sp>
      <p:cxnSp>
        <p:nvCxnSpPr>
          <p:cNvPr id="4" name="Masthead rule"/>
          <p:cNvCxnSpPr/>
          <p:nvPr/>
        </p:nvCxnSpPr>
        <p:spPr>
          <a:xfrm>
            <a:off x="640080" y="1280160"/>
            <a:ext cx="10911535" cy="0"/>
          </a:xfrm>
          <a:prstGeom prst="line">
            <a:avLst/>
          </a:prstGeom>
          <a:ln w="15875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Lede"/>
          <p:cNvSpPr txBox="1"/>
          <p:nvPr/>
        </p:nvSpPr>
        <p:spPr>
          <a:xfrm>
            <a:off x="640080" y="1389888"/>
            <a:ext cx="10911535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374151"/>
                </a:solidFill>
                <a:latin typeface="Arial"/>
                <a:ea typeface="Arial"/>
                <a:cs typeface="Arial"/>
              </a:rPr>
              <a:t>Try it, read the code, watch the demo</a:t>
            </a:r>
          </a:p>
        </p:txBody>
      </p:sp>
      <p:sp>
        <p:nvSpPr>
          <p:cNvPr id="6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Green Corridor · Links</a:t>
            </a:r>
          </a:p>
        </p:txBody>
      </p:sp>
      <p:sp>
        <p:nvSpPr>
          <p:cNvPr id="7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Arial"/>
                <a:ea typeface="Arial"/>
                <a:cs typeface="Arial"/>
              </a:rPr>
              <a:t>16 / 17</a:t>
            </a:r>
          </a:p>
        </p:txBody>
      </p:sp>
      <p:sp>
        <p:nvSpPr>
          <p:cNvPr id="8" name="Link tile"/>
          <p:cNvSpPr/>
          <p:nvPr/>
        </p:nvSpPr>
        <p:spPr>
          <a:xfrm>
            <a:off x="640080" y="2011679"/>
            <a:ext cx="2522143" cy="4023360"/>
          </a:xfrm>
          <a:prstGeom prst="roundRect">
            <a:avLst>
              <a:gd name="adj" fmla="val 507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"/>
          <p:cNvSpPr txBox="1"/>
          <p:nvPr/>
        </p:nvSpPr>
        <p:spPr>
          <a:xfrm>
            <a:off x="914400" y="2240279"/>
            <a:ext cx="1973503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GitHub Public Repository</a:t>
            </a:r>
          </a:p>
        </p:txBody>
      </p:sp>
      <p:pic>
        <p:nvPicPr>
          <p:cNvPr id="10" name="QR" descr="imag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5311" y="2697480"/>
            <a:ext cx="2011680" cy="2011680"/>
          </a:xfrm>
          <a:prstGeom prst="rect">
            <a:avLst/>
          </a:prstGeom>
        </p:spPr>
      </p:pic>
      <p:sp>
        <p:nvSpPr>
          <p:cNvPr id="11" name="Text"/>
          <p:cNvSpPr txBox="1"/>
          <p:nvPr/>
        </p:nvSpPr>
        <p:spPr>
          <a:xfrm>
            <a:off x="777240" y="4983479"/>
            <a:ext cx="2247823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github.com/Nandish3010/ideal-disco</a:t>
            </a:r>
          </a:p>
        </p:txBody>
      </p:sp>
      <p:sp>
        <p:nvSpPr>
          <p:cNvPr id="12" name="Link tile"/>
          <p:cNvSpPr/>
          <p:nvPr/>
        </p:nvSpPr>
        <p:spPr>
          <a:xfrm>
            <a:off x="3436543" y="2011679"/>
            <a:ext cx="2522143" cy="4023360"/>
          </a:xfrm>
          <a:prstGeom prst="roundRect">
            <a:avLst>
              <a:gd name="adj" fmla="val 5075"/>
            </a:avLst>
          </a:prstGeom>
          <a:solidFill>
            <a:srgbClr val="FFFFFF"/>
          </a:solidFill>
          <a:ln w="9525">
            <a:solidFill>
              <a:srgbClr val="9CA3A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"/>
          <p:cNvSpPr txBox="1"/>
          <p:nvPr/>
        </p:nvSpPr>
        <p:spPr>
          <a:xfrm>
            <a:off x="3710863" y="2240279"/>
            <a:ext cx="1973503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Demo Video (3 minutes)</a:t>
            </a:r>
          </a:p>
        </p:txBody>
      </p:sp>
      <p:sp>
        <p:nvSpPr>
          <p:cNvPr id="14" name="Text"/>
          <p:cNvSpPr txBox="1"/>
          <p:nvPr/>
        </p:nvSpPr>
        <p:spPr>
          <a:xfrm>
            <a:off x="3710863" y="3246120"/>
            <a:ext cx="1973503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>
                <a:solidFill>
                  <a:srgbClr val="6B7280"/>
                </a:solidFill>
                <a:latin typeface="Arial"/>
                <a:ea typeface="Arial"/>
                <a:cs typeface="Arial"/>
              </a:rPr>
              <a:t>[link + QR at submission]</a:t>
            </a:r>
          </a:p>
        </p:txBody>
      </p:sp>
      <p:sp>
        <p:nvSpPr>
          <p:cNvPr id="15" name="Link tile"/>
          <p:cNvSpPr/>
          <p:nvPr/>
        </p:nvSpPr>
        <p:spPr>
          <a:xfrm>
            <a:off x="6233007" y="2011679"/>
            <a:ext cx="2522143" cy="4023360"/>
          </a:xfrm>
          <a:prstGeom prst="roundRect">
            <a:avLst>
              <a:gd name="adj" fmla="val 507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"/>
          <p:cNvSpPr txBox="1"/>
          <p:nvPr/>
        </p:nvSpPr>
        <p:spPr>
          <a:xfrm>
            <a:off x="6507327" y="2240279"/>
            <a:ext cx="1973503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Final Product</a:t>
            </a:r>
          </a:p>
        </p:txBody>
      </p:sp>
      <p:pic>
        <p:nvPicPr>
          <p:cNvPr id="17" name="QR" descr="image.png">
            <a:hlinkClick r:id="rId5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8239" y="2697480"/>
            <a:ext cx="2011680" cy="2011680"/>
          </a:xfrm>
          <a:prstGeom prst="rect">
            <a:avLst/>
          </a:prstGeom>
        </p:spPr>
      </p:pic>
      <p:sp>
        <p:nvSpPr>
          <p:cNvPr id="18" name="Text"/>
          <p:cNvSpPr txBox="1"/>
          <p:nvPr/>
        </p:nvSpPr>
        <p:spPr>
          <a:xfrm>
            <a:off x="6370167" y="4983479"/>
            <a:ext cx="2247823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green-corridor-2026.web.app</a:t>
            </a:r>
          </a:p>
        </p:txBody>
      </p:sp>
      <p:sp>
        <p:nvSpPr>
          <p:cNvPr id="19" name="Link tile"/>
          <p:cNvSpPr/>
          <p:nvPr/>
        </p:nvSpPr>
        <p:spPr>
          <a:xfrm>
            <a:off x="9029471" y="2011679"/>
            <a:ext cx="2522143" cy="4023360"/>
          </a:xfrm>
          <a:prstGeom prst="roundRect">
            <a:avLst>
              <a:gd name="adj" fmla="val 5075"/>
            </a:avLst>
          </a:prstGeom>
          <a:solidFill>
            <a:srgbClr val="FFFFFF"/>
          </a:solidFill>
          <a:ln w="9525">
            <a:solidFill>
              <a:srgbClr val="D9DA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"/>
          <p:cNvSpPr txBox="1"/>
          <p:nvPr/>
        </p:nvSpPr>
        <p:spPr>
          <a:xfrm>
            <a:off x="9303791" y="2240279"/>
            <a:ext cx="1973503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80">
                <a:solidFill>
                  <a:srgbClr val="6B7280"/>
                </a:solidFill>
                <a:latin typeface="Arial"/>
                <a:ea typeface="Arial"/>
                <a:cs typeface="Arial"/>
              </a:rPr>
              <a:t>Submission deck</a:t>
            </a:r>
          </a:p>
        </p:txBody>
      </p:sp>
      <p:pic>
        <p:nvPicPr>
          <p:cNvPr id="21" name="QR" descr="image.png">
            <a:hlinkClick r:id="rId7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4703" y="2697480"/>
            <a:ext cx="2011680" cy="2011680"/>
          </a:xfrm>
          <a:prstGeom prst="rect">
            <a:avLst/>
          </a:prstGeom>
        </p:spPr>
      </p:pic>
      <p:sp>
        <p:nvSpPr>
          <p:cNvPr id="22" name="Text"/>
          <p:cNvSpPr txBox="1"/>
          <p:nvPr/>
        </p:nvSpPr>
        <p:spPr>
          <a:xfrm>
            <a:off x="9166631" y="4983479"/>
            <a:ext cx="2247823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green-corridor-2026.web.app/deck.pdf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eyebrow"/>
          <p:cNvSpPr txBox="1"/>
          <p:nvPr/>
        </p:nvSpPr>
        <p:spPr>
          <a:xfrm>
            <a:off x="640080" y="1920240"/>
            <a:ext cx="91440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cap="all" spc="140">
                <a:solidFill>
                  <a:srgbClr val="F59E0B"/>
                </a:solidFill>
                <a:latin typeface="Arial"/>
                <a:ea typeface="Arial"/>
                <a:cs typeface="Arial"/>
              </a:rPr>
              <a:t>Google Cloud AI Builder Cup 2026 · Sustainability &amp; Social Impact</a:t>
            </a:r>
          </a:p>
        </p:txBody>
      </p:sp>
      <p:cxnSp>
        <p:nvCxnSpPr>
          <p:cNvPr id="3" name="Connector"/>
          <p:cNvCxnSpPr/>
          <p:nvPr/>
        </p:nvCxnSpPr>
        <p:spPr>
          <a:xfrm>
            <a:off x="640080" y="2377440"/>
            <a:ext cx="822960" cy="0"/>
          </a:xfrm>
          <a:prstGeom prst="line">
            <a:avLst/>
          </a:prstGeom>
          <a:ln w="38100">
            <a:solidFill>
              <a:srgbClr val="F59E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Closing title"/>
          <p:cNvSpPr txBox="1"/>
          <p:nvPr/>
        </p:nvSpPr>
        <p:spPr>
          <a:xfrm>
            <a:off x="640080" y="2651760"/>
            <a:ext cx="10515600" cy="16459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Warn the constable</a:t>
            </a:r>
          </a:p>
          <a:p>
            <a:pPr algn="l">
              <a:spcAft>
                <a:spcPts val="0"/>
              </a:spcAft>
            </a:pPr>
            <a:r>
              <a:rPr sz="5400" b="1">
                <a:solidFill>
                  <a:srgbClr val="F5F5F4"/>
                </a:solidFill>
                <a:latin typeface="Arial"/>
                <a:ea typeface="Arial"/>
                <a:cs typeface="Arial"/>
              </a:rPr>
              <a:t>before the siren arrives.</a:t>
            </a:r>
          </a:p>
        </p:txBody>
      </p:sp>
      <p:sp>
        <p:nvSpPr>
          <p:cNvPr id="5" name="Closing links"/>
          <p:cNvSpPr txBox="1"/>
          <p:nvPr/>
        </p:nvSpPr>
        <p:spPr>
          <a:xfrm>
            <a:off x="640080" y="4480560"/>
            <a:ext cx="100584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59E0B"/>
                </a:solidFill>
                <a:latin typeface="Arial"/>
                <a:ea typeface="Arial"/>
                <a:cs typeface="Arial"/>
              </a:rPr>
              <a:t>Try it: green-corridor-2026.web.app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F59E0B"/>
                </a:solidFill>
                <a:latin typeface="Arial"/>
                <a:ea typeface="Arial"/>
                <a:cs typeface="Arial"/>
              </a:rPr>
              <a:t>Read it: github.com/Nandish3010/ideal-disco</a:t>
            </a:r>
          </a:p>
        </p:txBody>
      </p:sp>
      <p:sp>
        <p:nvSpPr>
          <p:cNvPr id="6" name="Closing byline"/>
          <p:cNvSpPr txBox="1"/>
          <p:nvPr/>
        </p:nvSpPr>
        <p:spPr>
          <a:xfrm>
            <a:off x="640080" y="5669280"/>
            <a:ext cx="7315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Built by Nandish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40080" y="6400800"/>
            <a:ext cx="73152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Green Corridor · Thank you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9722815" y="6400800"/>
            <a:ext cx="18288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9CA3AF"/>
                </a:solidFill>
                <a:latin typeface="Arial"/>
                <a:ea typeface="Arial"/>
                <a:cs typeface="Arial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Emergency Green Corridor: submission deck</dc:title>
  <dc:subject/>
  <dc:creator>Nandish</dc:creator>
  <cp:keywords/>
  <dc:description>generated using python-pptx</dc:description>
  <cp:lastModifiedBy>Nandish</cp:lastModifiedBy>
  <cp:revision>1</cp:revision>
  <dcterms:created xsi:type="dcterms:W3CDTF">2013-01-27T09:14:16Z</dcterms:created>
  <dcterms:modified xsi:type="dcterms:W3CDTF">2013-01-27T09:15:58Z</dcterms:modified>
  <cp:category/>
</cp:coreProperties>
</file>